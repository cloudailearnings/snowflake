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2D799-83F2-474A-B02B-CFAC055370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BE63-A4AB-4D07-A0D1-0F4CA35E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25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on date columns reduced the number of micro-partitions to be scanned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BF8C0-6FC9-4445-AA3A-B7DE4D6B801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5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3BF7-94F8-7056-2173-7BC26C219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32BC4-C068-0EB9-AF4C-B562877FC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29B1-85BB-079D-0C0B-D18D496E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798B-8E2A-68A1-EA90-7EC0383D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BAB21-8EA1-DDEB-0A1A-2F5DA1A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0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287F-A603-8A8D-85B9-075D6A90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8E53C-33FB-1951-9EC6-CB609A7E5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73AF2-DB90-93AF-1869-8F0748B5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897C4-AF78-825E-6256-1B4439B2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A1A72-6F6D-F642-CC24-7BC5BC77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00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8E30-2FEE-9F08-BAB8-FBE862C8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16473-1BBE-9D4E-4906-AD6C59A6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FD5D-E427-41A8-6B30-9F244BB8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611F-B867-C7FE-9E40-7BE82AF0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25CEC-9FC2-33D4-F29B-0B3C3CD3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19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5726-B786-6B99-8510-D4BC7C9F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59AA-B62C-520A-A690-522822927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41570-6A6A-5996-84AA-A0E20F4C0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B8976-F80E-0985-6AAE-246A0F27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7EE0-EED8-C7B2-56C8-D7C70274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71FE9-39C4-4F6A-5B67-02F74AAB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15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3929-A965-9BA2-F6C2-1AFDB998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5266B-C57F-02D6-8371-EBB89EBF6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36DB5-FCF4-0E8E-DE04-2B7A64BF1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9D64E7-54D8-E22F-254F-4643A9BE9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EDCA2-9096-78FF-835A-49E1B26BF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B28AD-9A99-9E8C-8483-CF9DFCAD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6B918-2D83-AADC-C4FF-211B6B62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FF82C-10EA-4007-7635-6DFA147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9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3B6E-1EC6-98D6-1B9F-F219199C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54243-6E48-531A-4C15-9D11FDB1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1895B-E3B2-78D1-220E-6BE5F804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4643D-1C13-1AE1-E45F-D7A69BC8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5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7522D-E48D-F2F1-35A9-90F7FF58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F10EA-5DA5-B120-F1F5-160D2B58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5B0F4-1209-8B20-9EC0-859E56BC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59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C96B-FA21-ACFF-3073-8727E8A5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D828-8F74-44EA-A732-6CA0255B6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E28D4-35B5-D98E-355B-515546436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683F9-8DE7-5AFC-2C65-5A07A3D1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5BE7B-9ADB-43C0-DB7E-C6927F71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0A6A3-F1E3-5C6F-25B8-3EACB42A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30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B987-9C2B-49F4-0433-7627D3A2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4D9DD-C563-D488-34C6-9403B0CC1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12B36-DC74-EC67-ABA0-F3ABEAF08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DE149-EAB4-F378-1806-3596043E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1EB4A-AFA1-08FD-D414-7F1CD089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2F3EF-24F8-2473-F4F2-4E060C61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71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70D6-A54B-3E26-58A6-05F54AE2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D05E3-AEA8-515A-9038-4D8274C44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CE8D-6DB4-9976-6DA7-6D6C716E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28AC3-3D24-BF61-90CA-0716DB68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9FE8-3257-FB36-B089-239A5A3C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3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9ECC8-3005-1F17-AFFF-FC494F3DA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D2E99-1ADC-09E3-1ACB-2892C68DB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07D51-81A7-6F07-67CF-1167D5D1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E8A46-652E-9ED7-A2B0-FD4202CC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BC5D-7C0B-C763-B6C5-DA058996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99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9D69D-3C43-3E35-4973-76C05E37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5C82E-6D4D-8046-4D4F-9CFE3DE1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1414F-3FCC-F8DB-1DBC-52F2D6757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3119D-8033-4BF9-A6C9-11930ACFCD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7F031-D1DA-F1E0-D378-4FF14DB68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17E6-8C9F-59B7-39E5-BB5481651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7833A-4197-4D6A-8A03-178C9434A7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micro-partitions&amp;sca_esv=c561dc4e372ce7af&amp;ei=DZoVaY6nH-uUseMPluLCqQk&amp;oq=how+data+physically+stored+in+snowfalke&amp;gs_lp=Egxnd3Mtd2l6LXNlcnAiJ2hvdyBkYXRhIHBoeXNpY2FsbHkgc3RvcmVkIGluIHNub3dmYWxrZSoCCAEyBxAhGKABGAoyBxAhGKABGAoyBRAhGJ8FMgUQIRifBTIFECEYnwUyBRAhGJ8FMgUQIRifBTIFECEYnwUyBRAhGJ8FMgUQIRifBUiUiwFQlA1Y3HNwAngBkAEDmAGlAaAB1EuqAQQxLjc5uAEByAEA-AEBmAIqoALkKqgCCsICChAAGLADGNYEGEfCAgUQABiABMICCxAAGIAEGIYDGIoFwgIIEAAYgAQYogTCAgUQABjvBcICFBAAGIAEGJECGLQCGIoFGOoC2AEBwgIQEAAYAxi0AhjqAhiPAdgBAcICEhAAGAMYtAIY6gIYChiPAdgBAcICCxAAGIAEGJECGIoFwgILEAAYgAQYsQMYgwHCAhEQLhiABBixAxjRAxiDARjHAcICDhAAGIAEGLEDGIMBGIoFwgIIEAAYgAQYsQPCAg4QLhiABBixAxiDARiKBcICChAAGIAEGEMYigXCAg0QABiABBixAxhDGIoFwgILEAAYgAQYsQMYigXCAgYQABgWGB7CAggQABiiBBiJBcICBRAhGKABwgIEECEYFZgDB_EFi6AgoYnczCWIBgGQBgi6BgQIARgHkgcEMi40MKAHl-oEsgcEMC40MLgH1irCBwkwLjQuMTkuMTnIB8sC&amp;sclient=gws-wiz-serp&amp;mstk=AUtExfCpmLhHaMLOmKGveZCnwps5fa2TtISBbmw0WSlL9uVkxDLiuAYRjl-fwE-_yfggMa1Lrwdyss600pfl0AU-MOcvyOSgjIauOG7VhxVBsEzSLUu50BTy_iGs52_RRt0VNmHGJpw3bWl_b9RuW96Vr8GQMUn-geFGxE2sjyznLCcX7J4oIGV10f56e40DLp9-8xQl&amp;csui=3&amp;ved=2ahUKEwj6rLri5u6QAxVs1zgGHXydJREQgK4QegQIARAC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Micro-partitions&amp;sca_esv=c561dc4e372ce7af&amp;ei=DZoVaY6nH-uUseMPluLCqQk&amp;oq=how+data+physically+stored+in+snowfalke&amp;gs_lp=Egxnd3Mtd2l6LXNlcnAiJ2hvdyBkYXRhIHBoeXNpY2FsbHkgc3RvcmVkIGluIHNub3dmYWxrZSoCCAEyBxAhGKABGAoyBxAhGKABGAoyBRAhGJ8FMgUQIRifBTIFECEYnwUyBRAhGJ8FMgUQIRifBTIFECEYnwUyBRAhGJ8FMgUQIRifBUiUiwFQlA1Y3HNwAngBkAEDmAGlAaAB1EuqAQQxLjc5uAEByAEA-AEBmAIqoALkKqgCCsICChAAGLADGNYEGEfCAgUQABiABMICCxAAGIAEGIYDGIoFwgIIEAAYgAQYogTCAgUQABjvBcICFBAAGIAEGJECGLQCGIoFGOoC2AEBwgIQEAAYAxi0AhjqAhiPAdgBAcICEhAAGAMYtAIY6gIYChiPAdgBAcICCxAAGIAEGJECGIoFwgILEAAYgAQYsQMYgwHCAhEQLhiABBixAxjRAxiDARjHAcICDhAAGIAEGLEDGIMBGIoFwgIIEAAYgAQYsQPCAg4QLhiABBixAxiDARiKBcICChAAGIAEGEMYigXCAg0QABiABBixAxhDGIoFwgILEAAYgAQYsQMYigXCAgYQABgWGB7CAggQABiiBBiJBcICBRAhGKABwgIEECEYFZgDB_EFi6AgoYnczCWIBgGQBgi6BgQIARgHkgcEMi40MKAHl-oEsgcEMC40MLgH1irCBwkwLjQuMTkuMTnIB8sC&amp;sclient=gws-wiz-serp&amp;mstk=AUtExfCpmLhHaMLOmKGveZCnwps5fa2TtISBbmw0WSlL9uVkxDLiuAYRjl-fwE-_yfggMa1Lrwdyss600pfl0AU-MOcvyOSgjIauOG7VhxVBsEzSLUu50BTy_iGs52_RRt0VNmHGJpw3bWl_b9RuW96Vr8GQMUn-geFGxE2sjyznLCcX7J4oIGV10f56e40DLp9-8xQl&amp;csui=3&amp;ved=2ahUKEwj6rLri5u6QAxVs1zgGHXydJREQgK4QegQIAxA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7BFE-4012-22CE-F8B6-5256B7F4AA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Micro-Partitions-Snowflake</a:t>
            </a:r>
          </a:p>
        </p:txBody>
      </p:sp>
    </p:spTree>
    <p:extLst>
      <p:ext uri="{BB962C8B-B14F-4D97-AF65-F5344CB8AC3E}">
        <p14:creationId xmlns:p14="http://schemas.microsoft.com/office/powerpoint/2010/main" val="383092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nowflake Micro-partitions and Data Clustering">
            <a:extLst>
              <a:ext uri="{FF2B5EF4-FFF2-40B4-BE49-F238E27FC236}">
                <a16:creationId xmlns:a16="http://schemas.microsoft.com/office/drawing/2014/main" id="{6DF1CACA-51B4-ADC6-E88D-28708B73B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6250"/>
            <a:ext cx="11430000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19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01C2-598E-C466-2DC8-F61C65B63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932007"/>
            <a:ext cx="1193222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Traditional databases allows partitioning of large tables where the data in table divided into segments, called partitions, that make it easier to manage and query your data. </a:t>
            </a:r>
          </a:p>
          <a:p>
            <a:r>
              <a:rPr lang="en-US" dirty="0"/>
              <a:t>This is referred to as </a:t>
            </a:r>
            <a:r>
              <a:rPr lang="en-US" b="1" dirty="0">
                <a:highlight>
                  <a:srgbClr val="FFFF00"/>
                </a:highlight>
              </a:rPr>
              <a:t>static partitioning </a:t>
            </a:r>
            <a:r>
              <a:rPr lang="en-US" dirty="0"/>
              <a:t>which </a:t>
            </a:r>
            <a:r>
              <a:rPr lang="en-US" b="1" dirty="0">
                <a:highlight>
                  <a:srgbClr val="FFFF00"/>
                </a:highlight>
              </a:rPr>
              <a:t>requires</a:t>
            </a:r>
            <a:r>
              <a:rPr lang="en-US" dirty="0"/>
              <a:t> you to </a:t>
            </a:r>
            <a:r>
              <a:rPr lang="en-US" b="1" dirty="0">
                <a:highlight>
                  <a:srgbClr val="FFFF00"/>
                </a:highlight>
              </a:rPr>
              <a:t>include a partitioning clause i</a:t>
            </a:r>
            <a:r>
              <a:rPr lang="en-US" dirty="0"/>
              <a:t>n the CREATE TABLE statement to create a partitioned table.</a:t>
            </a:r>
          </a:p>
          <a:p>
            <a:endParaRPr lang="en-US" dirty="0"/>
          </a:p>
          <a:p>
            <a:r>
              <a:rPr lang="en-US" dirty="0"/>
              <a:t>The Snowflake Data Platform, as opposed to a traditional data warehouse, uses a unique and distinctive method of partitioning called </a:t>
            </a:r>
            <a:r>
              <a:rPr lang="en-US" b="1" dirty="0"/>
              <a:t>Micro-partitioning</a:t>
            </a:r>
            <a:r>
              <a:rPr lang="en-US" dirty="0"/>
              <a:t> that offers all the benefits of static partitioning without the known drawbacks and offers extra substantial advantages.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87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8465-CBA8-605D-046D-2493EC7D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4581"/>
          </a:xfrm>
        </p:spPr>
        <p:txBody>
          <a:bodyPr/>
          <a:lstStyle/>
          <a:p>
            <a:r>
              <a:rPr lang="en-IN" dirty="0"/>
              <a:t>Micro-Partitions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924DE-7AE7-96FC-EBE4-2465EDE9C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5" y="1389207"/>
            <a:ext cx="1185949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Snowflake stores all table data automatically divided into encrypted compressed files which are referred to as Micro-partitions.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Micro-partitions are </a:t>
            </a:r>
            <a:r>
              <a:rPr lang="en-US" b="1" dirty="0"/>
              <a:t>immutable</a:t>
            </a:r>
            <a:r>
              <a:rPr lang="en-US" dirty="0"/>
              <a:t> files i.e. cannot be modified once created and stores data in columnar format.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new data arrival creates a new micro-partition. Each micro-partition contains between 50 MB and 500 MB of uncompressed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Micro-partitioning is automatically performed on all Snowflake tables. The order in which the data is put or loaded is used to transparently partition the tables.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11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D27E-905F-5544-9AC1-FC76B30F5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Snowflake also stores metadata about all rows stored in a micro-partition.</a:t>
            </a:r>
          </a:p>
          <a:p>
            <a:pPr marL="0" indent="0">
              <a:buNone/>
            </a:pPr>
            <a:r>
              <a:rPr lang="en-US" dirty="0"/>
              <a:t> The metadata information includes</a:t>
            </a:r>
          </a:p>
          <a:p>
            <a:r>
              <a:rPr lang="en-US" dirty="0"/>
              <a:t>The range of values for each of the columns in the micro-partition.</a:t>
            </a:r>
          </a:p>
          <a:p>
            <a:r>
              <a:rPr lang="en-US" dirty="0"/>
              <a:t>The number of distinct values.</a:t>
            </a:r>
          </a:p>
          <a:p>
            <a:r>
              <a:rPr lang="en-US" dirty="0"/>
              <a:t>Additional properties used for both optimization and efficient query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96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4627-99E0-0160-152E-9DD22E01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organization of data into micro-partitions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DDA3C-C7C1-7CF6-5098-E1AAADF4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 descr="Logical vs Physical Structure of a Snowflake table">
            <a:extLst>
              <a:ext uri="{FF2B5EF4-FFF2-40B4-BE49-F238E27FC236}">
                <a16:creationId xmlns:a16="http://schemas.microsoft.com/office/drawing/2014/main" id="{6139DDBB-6595-81DA-9293-278CD6935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28675"/>
            <a:ext cx="97536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79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6E30-3C63-65FE-D6B1-512EFB8DE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3" y="360507"/>
            <a:ext cx="11672455" cy="350491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Logical Structure</a:t>
            </a:r>
            <a:r>
              <a:rPr lang="en-US" dirty="0"/>
              <a:t>. There are 24 rows of data and 4 columns – type, name, country, and date.</a:t>
            </a:r>
          </a:p>
          <a:p>
            <a:endParaRPr lang="en-US" dirty="0"/>
          </a:p>
          <a:p>
            <a:r>
              <a:rPr lang="en-US" b="1" dirty="0"/>
              <a:t>Physical Structure</a:t>
            </a:r>
            <a:r>
              <a:rPr lang="en-US" dirty="0"/>
              <a:t>. Here, there are four distinct micro-partitions that each hold six rows of data. Data of rows 1 through 6 are contained in the first micro-partition and so on.</a:t>
            </a:r>
          </a:p>
          <a:p>
            <a:endParaRPr lang="en-US" dirty="0"/>
          </a:p>
          <a:p>
            <a:r>
              <a:rPr lang="en-US" dirty="0"/>
              <a:t>retrieve records that belong to date ‘11/2’</a:t>
            </a:r>
          </a:p>
          <a:p>
            <a:endParaRPr lang="en-US" dirty="0"/>
          </a:p>
          <a:p>
            <a:r>
              <a:rPr lang="en-US" dirty="0"/>
              <a:t>SELECT type, country FROM MY_TABLE WHERE Date = '11/2’ ;</a:t>
            </a:r>
          </a:p>
          <a:p>
            <a:endParaRPr lang="en-US" dirty="0"/>
          </a:p>
          <a:p>
            <a:r>
              <a:rPr lang="en-US" i="1" dirty="0"/>
              <a:t>When you execute this query in Snowflake, only those micro-partitions are scanned which satisfies the </a:t>
            </a:r>
            <a:r>
              <a:rPr lang="en-US" b="1" i="1" dirty="0"/>
              <a:t>filter</a:t>
            </a:r>
            <a:r>
              <a:rPr lang="en-US" i="1" dirty="0"/>
              <a:t> condition. Once the micro-partitions to be scanned are identified, a portion of the micro-partitions is scanned that contain the data for the columns in the </a:t>
            </a:r>
            <a:r>
              <a:rPr lang="en-US" b="1" i="1" dirty="0"/>
              <a:t>select</a:t>
            </a:r>
            <a:r>
              <a:rPr lang="en-US" i="1" dirty="0"/>
              <a:t> query so that an entire partition is not scanned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E16A3-3885-D9E4-FF18-EFF36FBB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0" y="4270665"/>
            <a:ext cx="9190516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3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F4C5-AE8F-64ED-5F4A-9ABB0AE9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6987"/>
            <a:ext cx="10515600" cy="9481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Data Clustering?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026D-4A6E-1D5B-E909-5E5C3BB30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3" y="1545070"/>
            <a:ext cx="11869881" cy="4351338"/>
          </a:xfrm>
        </p:spPr>
        <p:txBody>
          <a:bodyPr/>
          <a:lstStyle/>
          <a:p>
            <a:r>
              <a:rPr lang="en-US" b="1" dirty="0"/>
              <a:t>Clustering is a technique used to organize data storage to better accommodate anticipated queries. The key objective is to increase query performance while lowering the amount of system resources needed to run queries.</a:t>
            </a:r>
          </a:p>
          <a:p>
            <a:endParaRPr lang="en-US" b="1" dirty="0"/>
          </a:p>
          <a:p>
            <a:r>
              <a:rPr lang="en-US" dirty="0"/>
              <a:t>Snowflake supports explicitly selecting the columns on which a table is clustered, giving you additional control over the clustering process. These columns are known as </a:t>
            </a:r>
            <a:r>
              <a:rPr lang="en-US" b="1" dirty="0"/>
              <a:t>Clustering keys</a:t>
            </a:r>
            <a:r>
              <a:rPr lang="en-US" dirty="0"/>
              <a:t>, and they allow Snowflake to maintain the clustering in accordance with the chosen columns while also allowing you to </a:t>
            </a:r>
            <a:r>
              <a:rPr lang="en-US" dirty="0" err="1"/>
              <a:t>recluster</a:t>
            </a:r>
            <a:r>
              <a:rPr lang="en-US" dirty="0"/>
              <a:t> on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28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A7B-D025-5F91-6AE4-ADDDABA2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459727"/>
          </a:xfrm>
        </p:spPr>
        <p:txBody>
          <a:bodyPr>
            <a:normAutofit/>
          </a:bodyPr>
          <a:lstStyle/>
          <a:p>
            <a:r>
              <a:rPr lang="en-US" sz="2400" b="1" dirty="0"/>
              <a:t>how clustering the table on date column would have distributed data into micro-partitions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7F3ECF-B2A1-F3B5-D81F-2590FA1AF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31273"/>
            <a:ext cx="5631873" cy="5631872"/>
          </a:xfrm>
          <a:prstGeom prst="rect">
            <a:avLst/>
          </a:prstGeom>
        </p:spPr>
      </p:pic>
      <p:pic>
        <p:nvPicPr>
          <p:cNvPr id="8194" name="Picture 2" descr="Physical Structure of a Snowflake table after Clustering on date field">
            <a:extLst>
              <a:ext uri="{FF2B5EF4-FFF2-40B4-BE49-F238E27FC236}">
                <a16:creationId xmlns:a16="http://schemas.microsoft.com/office/drawing/2014/main" id="{5F5F14E2-7799-4CE8-9CB8-44362326D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791" y="681037"/>
            <a:ext cx="6695209" cy="586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74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CCAE-CAC3-80AC-5B04-87D7430C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create Clustered Tables in Snowflake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DFEA-5BE2-098F-4C74-D047396F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142038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CREATE TABLE MY_TABLE </a:t>
            </a:r>
          </a:p>
          <a:p>
            <a:pPr marL="0" indent="0">
              <a:buNone/>
            </a:pPr>
            <a:r>
              <a:rPr lang="en-US" dirty="0"/>
              <a:t>(type NUMBER   ,</a:t>
            </a:r>
          </a:p>
          <a:p>
            <a:pPr marL="0" indent="0">
              <a:buNone/>
            </a:pPr>
            <a:r>
              <a:rPr lang="en-US" dirty="0"/>
              <a:t>name VARCHAR(50)   , </a:t>
            </a:r>
          </a:p>
          <a:p>
            <a:pPr marL="0" indent="0">
              <a:buNone/>
            </a:pPr>
            <a:r>
              <a:rPr lang="en-US" dirty="0"/>
              <a:t>country VARCHAR(50)   , </a:t>
            </a:r>
          </a:p>
          <a:p>
            <a:pPr marL="0" indent="0">
              <a:buNone/>
            </a:pPr>
            <a:r>
              <a:rPr lang="en-US" dirty="0"/>
              <a:t>date </a:t>
            </a:r>
            <a:r>
              <a:rPr lang="en-US" dirty="0" err="1"/>
              <a:t>DATE</a:t>
            </a:r>
            <a:r>
              <a:rPr lang="en-US" dirty="0"/>
              <a:t> ) CLUSTER BY (date)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MY_TABLE CLUSTER BY (date)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MY_TABLE CLUSTER BY (date, type)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MY_TABLE CLUSTER BY (YEAR(date), SUBSTRING(country,1,2)) 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62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eclustering Illustration">
            <a:extLst>
              <a:ext uri="{FF2B5EF4-FFF2-40B4-BE49-F238E27FC236}">
                <a16:creationId xmlns:a16="http://schemas.microsoft.com/office/drawing/2014/main" id="{44D8BA5E-EE74-8A19-6D56-CF7E93EC1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998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C7DD-64C3-D34B-06BB-001F44F9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/>
              <a:t>Automatic Clustering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1EB05-3E8B-E656-9D25-E0BD26987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4" y="1063263"/>
            <a:ext cx="11724409" cy="577648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Automatic Clustering is the Snowflake service that seamlessly and continually manages all </a:t>
            </a:r>
            <a:r>
              <a:rPr lang="en-US" dirty="0" err="1"/>
              <a:t>reclustering</a:t>
            </a:r>
            <a:r>
              <a:rPr lang="en-US" dirty="0"/>
              <a:t>, as needed, of clustered tables. </a:t>
            </a:r>
          </a:p>
          <a:p>
            <a:r>
              <a:rPr lang="en-US" dirty="0"/>
              <a:t>Note that Automatic Clustering consumes Snowflake credits, but does not require you to provide a virtual warehouse. </a:t>
            </a:r>
          </a:p>
          <a:p>
            <a:r>
              <a:rPr lang="en-US" dirty="0"/>
              <a:t>Instead, Snowflake internally manages and achieves efficient resource utilization for </a:t>
            </a:r>
            <a:r>
              <a:rPr lang="en-US" dirty="0" err="1"/>
              <a:t>reclustering</a:t>
            </a:r>
            <a:r>
              <a:rPr lang="en-US" dirty="0"/>
              <a:t> the tables.</a:t>
            </a:r>
          </a:p>
          <a:p>
            <a:r>
              <a:rPr lang="en-US" dirty="0"/>
              <a:t>To suspend Automatic Clustering for a table, use the </a:t>
            </a:r>
            <a:r>
              <a:rPr lang="en-US" b="1" dirty="0"/>
              <a:t>ALTER TABLE</a:t>
            </a:r>
            <a:r>
              <a:rPr lang="en-US" dirty="0"/>
              <a:t> command with a </a:t>
            </a:r>
            <a:r>
              <a:rPr lang="en-US" b="1" dirty="0"/>
              <a:t>SUSPEND RECLUSTER</a:t>
            </a:r>
            <a:r>
              <a:rPr lang="en-US" dirty="0"/>
              <a:t> clause.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suspend Automatic Clustering for a table, use the </a:t>
            </a:r>
            <a:r>
              <a:rPr lang="en-US" b="1" dirty="0"/>
              <a:t>ALTER TABLE</a:t>
            </a:r>
            <a:r>
              <a:rPr lang="en-US" dirty="0"/>
              <a:t> command with a </a:t>
            </a:r>
            <a:r>
              <a:rPr lang="en-US" b="1" dirty="0"/>
              <a:t>SUSPEND RECLUSTER</a:t>
            </a:r>
            <a:r>
              <a:rPr lang="en-US" dirty="0"/>
              <a:t> clause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ALTER TABLE </a:t>
            </a:r>
            <a:r>
              <a:rPr lang="en-US" b="1" dirty="0" err="1">
                <a:highlight>
                  <a:srgbClr val="FFFF00"/>
                </a:highlight>
              </a:rPr>
              <a:t>my_table</a:t>
            </a:r>
            <a:r>
              <a:rPr lang="en-US" b="1" dirty="0">
                <a:highlight>
                  <a:srgbClr val="FFFF00"/>
                </a:highlight>
              </a:rPr>
              <a:t> SUSPEND RECLUSTER 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resume Automatic Clustering for a clustered table, use the </a:t>
            </a:r>
            <a:r>
              <a:rPr lang="en-US" b="1" dirty="0"/>
              <a:t>ALTER TABLE</a:t>
            </a:r>
            <a:r>
              <a:rPr lang="en-US" dirty="0"/>
              <a:t> command with a </a:t>
            </a:r>
            <a:r>
              <a:rPr lang="en-US" b="1" dirty="0"/>
              <a:t>RESUME RECLUSTER</a:t>
            </a:r>
            <a:r>
              <a:rPr lang="en-US" dirty="0"/>
              <a:t> clause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ALTER TABLE </a:t>
            </a:r>
            <a:r>
              <a:rPr lang="en-US" b="1" dirty="0" err="1">
                <a:highlight>
                  <a:srgbClr val="FFFF00"/>
                </a:highlight>
              </a:rPr>
              <a:t>my_table</a:t>
            </a:r>
            <a:r>
              <a:rPr lang="en-US" b="1" dirty="0">
                <a:highlight>
                  <a:srgbClr val="FFFF00"/>
                </a:highlight>
              </a:rPr>
              <a:t> RESUME RECLUSTER </a:t>
            </a:r>
            <a:r>
              <a:rPr lang="en-US" dirty="0"/>
              <a:t>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Verify if Automatic Clustering is enable for a table using </a:t>
            </a:r>
            <a:r>
              <a:rPr lang="en-US" b="1" dirty="0"/>
              <a:t>SHOW TABLES</a:t>
            </a:r>
            <a:r>
              <a:rPr lang="en-US" dirty="0"/>
              <a:t> command.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SHOW TABLES LIKE '</a:t>
            </a:r>
            <a:r>
              <a:rPr lang="en-US" b="1" dirty="0" err="1">
                <a:highlight>
                  <a:srgbClr val="FFFF00"/>
                </a:highlight>
              </a:rPr>
              <a:t>my_table</a:t>
            </a:r>
            <a:r>
              <a:rPr lang="en-US" b="1" dirty="0">
                <a:highlight>
                  <a:srgbClr val="FFFF00"/>
                </a:highlight>
              </a:rPr>
              <a:t>';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200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AF44-4229-611F-9345-834D3A3B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Clustering Information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EFB6-43CD-D01B-8C75-D46566F4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6" y="1253331"/>
            <a:ext cx="12091554" cy="4351338"/>
          </a:xfrm>
        </p:spPr>
        <p:txBody>
          <a:bodyPr/>
          <a:lstStyle/>
          <a:p>
            <a:r>
              <a:rPr lang="en-US" dirty="0"/>
              <a:t>SELECT SYSTEM$CLUSTERING_INFORMATION('</a:t>
            </a:r>
            <a:r>
              <a:rPr lang="en-US" dirty="0" err="1"/>
              <a:t>my_table</a:t>
            </a:r>
            <a:r>
              <a:rPr lang="en-US" dirty="0"/>
              <a:t>', '(date, type)');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F3BA3-C1ED-4768-3B36-7AB9BF703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85" y="1943100"/>
            <a:ext cx="11023324" cy="467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97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98CE-B8EF-84F2-1654-EE67D261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0491"/>
          </a:xfrm>
        </p:spPr>
        <p:txBody>
          <a:bodyPr/>
          <a:lstStyle/>
          <a:p>
            <a:r>
              <a:rPr lang="en-IN" dirty="0"/>
              <a:t>How data physically stored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4B9E-1EE9-5A78-0C53-435A02E2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347643"/>
            <a:ext cx="11765973" cy="4351338"/>
          </a:xfrm>
        </p:spPr>
        <p:txBody>
          <a:bodyPr/>
          <a:lstStyle/>
          <a:p>
            <a:r>
              <a:rPr lang="en-US" dirty="0"/>
              <a:t>Data in Snowflake is physically stored in </a:t>
            </a:r>
            <a:r>
              <a:rPr lang="en-US" b="1" dirty="0">
                <a:effectLst/>
                <a:hlinkClick r:id="rId2"/>
              </a:rPr>
              <a:t>micro-partitions</a:t>
            </a:r>
            <a:r>
              <a:rPr lang="en-US" dirty="0"/>
              <a:t>, which are small, compressed, and immutable storage units containing columnar data. </a:t>
            </a:r>
          </a:p>
          <a:p>
            <a:r>
              <a:rPr lang="en-US" dirty="0"/>
              <a:t>Each micro-partition is automatically created and contains between 50 and 500 MB of uncompressed data, with Snowflake managing the underlying physical storage in cloud object storage like Amazon S3.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28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5D02-A019-AD60-9470-752C04033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053455" cy="68580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hlinkClick r:id="rId2"/>
              </a:rPr>
              <a:t>Micro-partitions</a:t>
            </a:r>
            <a:r>
              <a:rPr lang="en-US" b="1" dirty="0"/>
              <a:t>:</a:t>
            </a:r>
            <a:r>
              <a:rPr lang="en-US" dirty="0"/>
              <a:t> When you load data, Snowflake automatically divides it into micro-partitions, which are the fundamental units of storage.</a:t>
            </a:r>
          </a:p>
          <a:p>
            <a:r>
              <a:rPr lang="en-US" b="1" dirty="0"/>
              <a:t>Columnar format:</a:t>
            </a:r>
            <a:r>
              <a:rPr lang="en-US" dirty="0"/>
              <a:t> Data within each micro-partition is organized in a columnar fashion, meaning each column's data is stored together. This is different from traditional row-based storage and is optimized for analytic queries that often only need to scan specific columns.</a:t>
            </a:r>
          </a:p>
          <a:p>
            <a:r>
              <a:rPr lang="en-US" b="1" dirty="0"/>
              <a:t>Automatic compression and optimization:</a:t>
            </a:r>
            <a:r>
              <a:rPr lang="en-US" dirty="0"/>
              <a:t> Snowflake automatically determines the most efficient compression algorithm for the data in each micro-partition. The data is compressed, making the actual physical size of a micro-partition smaller than its uncompressed size.</a:t>
            </a:r>
          </a:p>
          <a:p>
            <a:r>
              <a:rPr lang="en-US" b="1" dirty="0"/>
              <a:t>Cloud object storage:</a:t>
            </a:r>
            <a:r>
              <a:rPr lang="en-US" dirty="0"/>
              <a:t> The physical storage for these micro-partitions resides in cloud object storage (like Amazon S3, Azure Blob Storage, or Google Cloud Storage) and is managed entirely by Snowflake.</a:t>
            </a:r>
          </a:p>
          <a:p>
            <a:r>
              <a:rPr lang="en-US" b="1" dirty="0"/>
              <a:t>Metadata:</a:t>
            </a:r>
            <a:r>
              <a:rPr lang="en-US" dirty="0"/>
              <a:t> Snowflake maintains a system catalog that stores metadata for each micro-partition. This includes the min/max values for each column, the number of distinct values, and other properties, which enables efficient query processing.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29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8AC8-00E1-3998-F5A2-0BDFA15B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71454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D6956D-14DA-4C5B-666F-B3044D52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" y="976745"/>
            <a:ext cx="11991109" cy="57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50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F7F2-6D4A-F888-F30D-77ED0834C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73569"/>
            <a:ext cx="11433464" cy="53752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 Loading:</a:t>
            </a:r>
            <a:r>
              <a:rPr lang="en-US" dirty="0"/>
              <a:t> When this data is loaded into a Snowflake table, it is automatically partitioned. Let’s say the first three rows are grouped into one micro-partition.</a:t>
            </a:r>
          </a:p>
          <a:p>
            <a:r>
              <a:rPr lang="en-US" b="1" dirty="0"/>
              <a:t>Columnar Storage:</a:t>
            </a:r>
            <a:r>
              <a:rPr lang="en-US" dirty="0"/>
              <a:t> The data isn't stored as a full row "1, Alice, 2023-01-15" in one location. Instead, the </a:t>
            </a:r>
            <a:r>
              <a:rPr lang="en-US" dirty="0" err="1"/>
              <a:t>user_id</a:t>
            </a:r>
            <a:r>
              <a:rPr lang="en-US" dirty="0"/>
              <a:t> values are stored together, the name values are stored together, and the </a:t>
            </a:r>
            <a:r>
              <a:rPr lang="en-US" dirty="0" err="1"/>
              <a:t>signup_date</a:t>
            </a:r>
            <a:r>
              <a:rPr lang="en-US" dirty="0"/>
              <a:t> values are stored together within that micro-partition.</a:t>
            </a:r>
          </a:p>
          <a:p>
            <a:r>
              <a:rPr lang="en-US" b="1" dirty="0"/>
              <a:t>Metadata:</a:t>
            </a:r>
            <a:r>
              <a:rPr lang="en-US" dirty="0"/>
              <a:t> Snowflake would record metadata for this micro-partition, such as:</a:t>
            </a:r>
          </a:p>
          <a:p>
            <a:pPr lvl="1"/>
            <a:r>
              <a:rPr lang="en-US" dirty="0" err="1"/>
              <a:t>user_id</a:t>
            </a:r>
            <a:r>
              <a:rPr lang="en-US" dirty="0"/>
              <a:t>: Min value = 1, Max value = 3</a:t>
            </a:r>
          </a:p>
          <a:p>
            <a:pPr lvl="1"/>
            <a:r>
              <a:rPr lang="en-US" dirty="0"/>
              <a:t>name: Min value = "Alice", Max value = "Charlie"</a:t>
            </a:r>
          </a:p>
          <a:p>
            <a:pPr lvl="1"/>
            <a:r>
              <a:rPr lang="en-US" dirty="0" err="1"/>
              <a:t>signup_date</a:t>
            </a:r>
            <a:r>
              <a:rPr lang="en-US" dirty="0"/>
              <a:t>: Min value = 2023-01-15, Max value = 2023-03-10</a:t>
            </a:r>
          </a:p>
          <a:p>
            <a:r>
              <a:rPr lang="en-US" b="1" dirty="0"/>
              <a:t>Query Example:</a:t>
            </a:r>
            <a:r>
              <a:rPr lang="en-US" dirty="0"/>
              <a:t> If you run a query like SELECT name FROM users WHERE </a:t>
            </a:r>
            <a:r>
              <a:rPr lang="en-US" dirty="0" err="1"/>
              <a:t>user_id</a:t>
            </a:r>
            <a:r>
              <a:rPr lang="en-US" dirty="0"/>
              <a:t> = 2;, Snowflake uses the metadata to find the specific micro-partitions that contain </a:t>
            </a:r>
            <a:r>
              <a:rPr lang="en-US" dirty="0" err="1"/>
              <a:t>user_id</a:t>
            </a:r>
            <a:r>
              <a:rPr lang="en-US" dirty="0"/>
              <a:t> values between 1 and 3. It then only needs to read the name column from those partitions, rather than scanning all columns for all rows, which is much more efficient.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94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BEB6-FB82-B9B3-B83E-B587847B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37709"/>
          </a:xfrm>
        </p:spPr>
        <p:txBody>
          <a:bodyPr/>
          <a:lstStyle/>
          <a:p>
            <a:r>
              <a:rPr lang="en-US" dirty="0"/>
              <a:t>Clustering Works at Storage Level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04D0B8-BC69-E283-C08D-F08A60C82C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3573" y="1783425"/>
          <a:ext cx="10515600" cy="3993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353909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4016573"/>
                    </a:ext>
                  </a:extLst>
                </a:gridCol>
              </a:tblGrid>
              <a:tr h="5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245646"/>
                  </a:ext>
                </a:extLst>
              </a:tr>
              <a:tr h="1426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Storage 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is stored in micro-partitions (compressed columnar format). Each partition holds metadata for pruning.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686349"/>
                  </a:ext>
                </a:extLst>
              </a:tr>
              <a:tr h="99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Metadata 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Keeps clustering statistics (min/max values per partition).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38883"/>
                  </a:ext>
                </a:extLst>
              </a:tr>
              <a:tr h="99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Query Engine (Optimizer)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metadata to skip partitions during query execution — this is called </a:t>
                      </a:r>
                      <a:r>
                        <a:rPr lang="en-US" b="1" dirty="0"/>
                        <a:t>partition pruning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074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65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B4E0-8C14-CE3C-8E2B-17EE0081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4581"/>
          </a:xfrm>
        </p:spPr>
        <p:txBody>
          <a:bodyPr/>
          <a:lstStyle/>
          <a:p>
            <a:r>
              <a:rPr lang="en-US" b="1" dirty="0"/>
              <a:t>Clustering at the Storage Level in Snowflake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0A125-03CC-5CA2-3545-3264F0389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5" y="133725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1. Storage in Snowflake → Micro-Partitions</a:t>
            </a:r>
          </a:p>
          <a:p>
            <a:endParaRPr lang="it-IT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DBAE99-6448-4C4C-1698-61F51D3296D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6870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105406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7816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Metadata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12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 &amp; Max value per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latin typeface="Courier New" panose="02070309020205020404" pitchFamily="49" charset="0"/>
                        </a:rPr>
                        <a:t>region: min='APAC', max='EMEA'</a:t>
                      </a: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48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 of NULLs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order_date: 0 nulls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2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10,000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9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location &amp; partition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internal references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61035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C580E2A4-AA2F-D4CC-181A-D5461B659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058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Snowflake stores table data in small, immutable units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micro-partitions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micro-partition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MB compressed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(50–500 MB uncompressed).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data for multiple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(columnar storage).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describing each column’s value range and statistics.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metadata stored per micro-partition: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72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CE80B-A402-0BDA-ADC9-5CAB9CDF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26" y="942398"/>
            <a:ext cx="1163089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Physical Clustering — How Data is Organized</a:t>
            </a:r>
          </a:p>
          <a:p>
            <a:r>
              <a:rPr lang="en-US" dirty="0"/>
              <a:t>When Snowflake loads data into a table:</a:t>
            </a:r>
          </a:p>
          <a:p>
            <a:r>
              <a:rPr lang="en-US" dirty="0"/>
              <a:t>It divides the data into </a:t>
            </a:r>
            <a:r>
              <a:rPr lang="en-US" b="1" dirty="0"/>
              <a:t>micro-partitions</a:t>
            </a:r>
            <a:r>
              <a:rPr lang="en-US" dirty="0"/>
              <a:t> automatically.</a:t>
            </a:r>
          </a:p>
          <a:p>
            <a:r>
              <a:rPr lang="en-US" dirty="0"/>
              <a:t>Each micro-partition stores </a:t>
            </a:r>
            <a:r>
              <a:rPr lang="en-US" b="1" dirty="0"/>
              <a:t>contiguous ranges of column values</a:t>
            </a:r>
            <a:r>
              <a:rPr lang="en-US" dirty="0"/>
              <a:t>, based on the </a:t>
            </a:r>
            <a:r>
              <a:rPr lang="en-US" b="1" dirty="0"/>
              <a:t>load order</a:t>
            </a:r>
            <a:r>
              <a:rPr lang="en-US" dirty="0"/>
              <a:t> or </a:t>
            </a:r>
            <a:r>
              <a:rPr lang="en-US" b="1" dirty="0"/>
              <a:t>clustering key</a:t>
            </a:r>
            <a:r>
              <a:rPr lang="en-US" dirty="0"/>
              <a:t> (if defined).</a:t>
            </a:r>
          </a:p>
          <a:p>
            <a:r>
              <a:rPr lang="en-US" dirty="0"/>
              <a:t>📘 </a:t>
            </a:r>
            <a:r>
              <a:rPr lang="en-US" b="1" dirty="0"/>
              <a:t>In essence:</a:t>
            </a:r>
            <a:br>
              <a:rPr lang="en-US" dirty="0"/>
            </a:br>
            <a:r>
              <a:rPr lang="en-US" dirty="0"/>
              <a:t>Clustering is the </a:t>
            </a:r>
            <a:r>
              <a:rPr lang="en-US" i="1" dirty="0"/>
              <a:t>physical ordering</a:t>
            </a:r>
            <a:r>
              <a:rPr lang="en-US" dirty="0"/>
              <a:t> of how values of certain columns are distributed across micro-partitions.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37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FBB6-BFFA-74C5-097B-1A5C0F80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009" y="68103"/>
            <a:ext cx="10515600" cy="825515"/>
          </a:xfrm>
        </p:spPr>
        <p:txBody>
          <a:bodyPr/>
          <a:lstStyle/>
          <a:p>
            <a:r>
              <a:rPr lang="en-IN" dirty="0"/>
              <a:t>Internals of Storage-Level Clustering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0CEC0F-4599-4CC7-0C49-CC1D0FBEA8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00729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548908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3556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73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Ingestion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is written into new micro-partitions, either ordered by load or by clustering key.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98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Storage Metadata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Min/max values per column are recorded and stored in Snowflake’s metadata service.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88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Optimizer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During queries, Snowflake checks the metadata to determine which partitions to read.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06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Reclustering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necessary, Snowflake automatically reorders data in the background to maintain clustering.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32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608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Microsoft Office PowerPoint</Application>
  <PresentationFormat>Widescreen</PresentationFormat>
  <Paragraphs>126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Micro-Partitions-Snowflake</vt:lpstr>
      <vt:lpstr>PowerPoint Presentation</vt:lpstr>
      <vt:lpstr>PowerPoint Presentation</vt:lpstr>
      <vt:lpstr>Micro-Partitions</vt:lpstr>
      <vt:lpstr>PowerPoint Presentation</vt:lpstr>
      <vt:lpstr>organization of data into micro-partitions </vt:lpstr>
      <vt:lpstr>PowerPoint Presentation</vt:lpstr>
      <vt:lpstr>What is Data Clustering? </vt:lpstr>
      <vt:lpstr>how clustering the table on date column would have distributed data into micro-partitions</vt:lpstr>
      <vt:lpstr>create Clustered Tables in Snowflake </vt:lpstr>
      <vt:lpstr>PowerPoint Presentation</vt:lpstr>
      <vt:lpstr>Automatic Clustering </vt:lpstr>
      <vt:lpstr>Clustering Information </vt:lpstr>
      <vt:lpstr>How data physically stored</vt:lpstr>
      <vt:lpstr>PowerPoint Presentation</vt:lpstr>
      <vt:lpstr>Example</vt:lpstr>
      <vt:lpstr>PowerPoint Presentation</vt:lpstr>
      <vt:lpstr>Clustering Works at Storage Level</vt:lpstr>
      <vt:lpstr>Clustering at the Storage Level in Snowflake</vt:lpstr>
      <vt:lpstr>PowerPoint Presentation</vt:lpstr>
      <vt:lpstr>Internals of Storage-Level Clustering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1</cp:revision>
  <dcterms:created xsi:type="dcterms:W3CDTF">2025-11-13T22:18:11Z</dcterms:created>
  <dcterms:modified xsi:type="dcterms:W3CDTF">2025-11-13T22:18:11Z</dcterms:modified>
</cp:coreProperties>
</file>