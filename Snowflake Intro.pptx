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77" r:id="rId5"/>
    <p:sldId id="278" r:id="rId6"/>
    <p:sldId id="259" r:id="rId7"/>
    <p:sldId id="262" r:id="rId8"/>
    <p:sldId id="260"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61"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4" d="100"/>
          <a:sy n="74" d="100"/>
        </p:scale>
        <p:origin x="1042" y="9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391C63-208C-61CB-4AEF-403E26AEC3F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640362EF-B498-0147-AE8A-80D8DE2AACD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99A8FD77-F9F5-1909-458F-9E1E26FC2E29}"/>
              </a:ext>
            </a:extLst>
          </p:cNvPr>
          <p:cNvSpPr>
            <a:spLocks noGrp="1"/>
          </p:cNvSpPr>
          <p:nvPr>
            <p:ph type="dt" sz="half" idx="10"/>
          </p:nvPr>
        </p:nvSpPr>
        <p:spPr/>
        <p:txBody>
          <a:bodyPr/>
          <a:lstStyle/>
          <a:p>
            <a:fld id="{FB9039FC-E147-46B1-A264-77555FAA9C2B}" type="datetimeFigureOut">
              <a:rPr lang="en-IN" smtClean="0"/>
              <a:t>14-11-2025</a:t>
            </a:fld>
            <a:endParaRPr lang="en-IN"/>
          </a:p>
        </p:txBody>
      </p:sp>
      <p:sp>
        <p:nvSpPr>
          <p:cNvPr id="5" name="Footer Placeholder 4">
            <a:extLst>
              <a:ext uri="{FF2B5EF4-FFF2-40B4-BE49-F238E27FC236}">
                <a16:creationId xmlns:a16="http://schemas.microsoft.com/office/drawing/2014/main" id="{46F383A6-C173-3BB9-28F7-8081025606D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29E6E72-3E3B-D305-5012-3F9269CFD5A1}"/>
              </a:ext>
            </a:extLst>
          </p:cNvPr>
          <p:cNvSpPr>
            <a:spLocks noGrp="1"/>
          </p:cNvSpPr>
          <p:nvPr>
            <p:ph type="sldNum" sz="quarter" idx="12"/>
          </p:nvPr>
        </p:nvSpPr>
        <p:spPr/>
        <p:txBody>
          <a:bodyPr/>
          <a:lstStyle/>
          <a:p>
            <a:fld id="{50156EF1-94C6-4655-B9EE-7EB53BB54A9F}" type="slidenum">
              <a:rPr lang="en-IN" smtClean="0"/>
              <a:t>‹#›</a:t>
            </a:fld>
            <a:endParaRPr lang="en-IN"/>
          </a:p>
        </p:txBody>
      </p:sp>
    </p:spTree>
    <p:extLst>
      <p:ext uri="{BB962C8B-B14F-4D97-AF65-F5344CB8AC3E}">
        <p14:creationId xmlns:p14="http://schemas.microsoft.com/office/powerpoint/2010/main" val="1777352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F92007-5AB5-F560-83B9-72DA42CE9AE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5EBEC61-AFBE-B23F-9BF8-DB969339044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4F56514-D0C2-387F-8983-F935A20BA2DC}"/>
              </a:ext>
            </a:extLst>
          </p:cNvPr>
          <p:cNvSpPr>
            <a:spLocks noGrp="1"/>
          </p:cNvSpPr>
          <p:nvPr>
            <p:ph type="dt" sz="half" idx="10"/>
          </p:nvPr>
        </p:nvSpPr>
        <p:spPr/>
        <p:txBody>
          <a:bodyPr/>
          <a:lstStyle/>
          <a:p>
            <a:fld id="{FB9039FC-E147-46B1-A264-77555FAA9C2B}" type="datetimeFigureOut">
              <a:rPr lang="en-IN" smtClean="0"/>
              <a:t>14-11-2025</a:t>
            </a:fld>
            <a:endParaRPr lang="en-IN"/>
          </a:p>
        </p:txBody>
      </p:sp>
      <p:sp>
        <p:nvSpPr>
          <p:cNvPr id="5" name="Footer Placeholder 4">
            <a:extLst>
              <a:ext uri="{FF2B5EF4-FFF2-40B4-BE49-F238E27FC236}">
                <a16:creationId xmlns:a16="http://schemas.microsoft.com/office/drawing/2014/main" id="{E1492A36-9151-B3AB-5616-CA80506D5F9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4D00F3A-57B0-C574-CC45-AC2E2CAEDE5A}"/>
              </a:ext>
            </a:extLst>
          </p:cNvPr>
          <p:cNvSpPr>
            <a:spLocks noGrp="1"/>
          </p:cNvSpPr>
          <p:nvPr>
            <p:ph type="sldNum" sz="quarter" idx="12"/>
          </p:nvPr>
        </p:nvSpPr>
        <p:spPr/>
        <p:txBody>
          <a:bodyPr/>
          <a:lstStyle/>
          <a:p>
            <a:fld id="{50156EF1-94C6-4655-B9EE-7EB53BB54A9F}" type="slidenum">
              <a:rPr lang="en-IN" smtClean="0"/>
              <a:t>‹#›</a:t>
            </a:fld>
            <a:endParaRPr lang="en-IN"/>
          </a:p>
        </p:txBody>
      </p:sp>
    </p:spTree>
    <p:extLst>
      <p:ext uri="{BB962C8B-B14F-4D97-AF65-F5344CB8AC3E}">
        <p14:creationId xmlns:p14="http://schemas.microsoft.com/office/powerpoint/2010/main" val="18455209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029B1E-BF72-FF2C-86BE-CC91E16DF8B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830F4ECD-1C1D-E95E-465F-B86C3B4F7D2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143F938-E15C-4065-1FE4-E3AA483F9339}"/>
              </a:ext>
            </a:extLst>
          </p:cNvPr>
          <p:cNvSpPr>
            <a:spLocks noGrp="1"/>
          </p:cNvSpPr>
          <p:nvPr>
            <p:ph type="dt" sz="half" idx="10"/>
          </p:nvPr>
        </p:nvSpPr>
        <p:spPr/>
        <p:txBody>
          <a:bodyPr/>
          <a:lstStyle/>
          <a:p>
            <a:fld id="{FB9039FC-E147-46B1-A264-77555FAA9C2B}" type="datetimeFigureOut">
              <a:rPr lang="en-IN" smtClean="0"/>
              <a:t>14-11-2025</a:t>
            </a:fld>
            <a:endParaRPr lang="en-IN"/>
          </a:p>
        </p:txBody>
      </p:sp>
      <p:sp>
        <p:nvSpPr>
          <p:cNvPr id="5" name="Footer Placeholder 4">
            <a:extLst>
              <a:ext uri="{FF2B5EF4-FFF2-40B4-BE49-F238E27FC236}">
                <a16:creationId xmlns:a16="http://schemas.microsoft.com/office/drawing/2014/main" id="{DB91DB0B-58B6-ADC5-1B85-2DD8E5F3D8D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AA3450A-BAB0-FCAB-8DAE-F20C4FEE9A35}"/>
              </a:ext>
            </a:extLst>
          </p:cNvPr>
          <p:cNvSpPr>
            <a:spLocks noGrp="1"/>
          </p:cNvSpPr>
          <p:nvPr>
            <p:ph type="sldNum" sz="quarter" idx="12"/>
          </p:nvPr>
        </p:nvSpPr>
        <p:spPr/>
        <p:txBody>
          <a:bodyPr/>
          <a:lstStyle/>
          <a:p>
            <a:fld id="{50156EF1-94C6-4655-B9EE-7EB53BB54A9F}" type="slidenum">
              <a:rPr lang="en-IN" smtClean="0"/>
              <a:t>‹#›</a:t>
            </a:fld>
            <a:endParaRPr lang="en-IN"/>
          </a:p>
        </p:txBody>
      </p:sp>
    </p:spTree>
    <p:extLst>
      <p:ext uri="{BB962C8B-B14F-4D97-AF65-F5344CB8AC3E}">
        <p14:creationId xmlns:p14="http://schemas.microsoft.com/office/powerpoint/2010/main" val="23030714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C22C7F-0787-CA87-CE79-42B8FA1FD4F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CBC26F7-6D00-2CFB-16E9-89AA10CF241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2278E225-6DD3-2B38-C5EA-1EBB414997D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620FED7-40E5-AF15-3DA1-1B74305DB6C1}"/>
              </a:ext>
            </a:extLst>
          </p:cNvPr>
          <p:cNvSpPr>
            <a:spLocks noGrp="1"/>
          </p:cNvSpPr>
          <p:nvPr>
            <p:ph type="dt" sz="half" idx="10"/>
          </p:nvPr>
        </p:nvSpPr>
        <p:spPr/>
        <p:txBody>
          <a:bodyPr/>
          <a:lstStyle/>
          <a:p>
            <a:fld id="{FB9039FC-E147-46B1-A264-77555FAA9C2B}" type="datetimeFigureOut">
              <a:rPr lang="en-IN" smtClean="0"/>
              <a:t>14-11-2025</a:t>
            </a:fld>
            <a:endParaRPr lang="en-IN"/>
          </a:p>
        </p:txBody>
      </p:sp>
      <p:sp>
        <p:nvSpPr>
          <p:cNvPr id="6" name="Footer Placeholder 5">
            <a:extLst>
              <a:ext uri="{FF2B5EF4-FFF2-40B4-BE49-F238E27FC236}">
                <a16:creationId xmlns:a16="http://schemas.microsoft.com/office/drawing/2014/main" id="{38DFBE7B-74A0-0095-D374-FF854E9FE79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C4CC50F-DF94-C3FE-4E7A-58760CF303B6}"/>
              </a:ext>
            </a:extLst>
          </p:cNvPr>
          <p:cNvSpPr>
            <a:spLocks noGrp="1"/>
          </p:cNvSpPr>
          <p:nvPr>
            <p:ph type="sldNum" sz="quarter" idx="12"/>
          </p:nvPr>
        </p:nvSpPr>
        <p:spPr/>
        <p:txBody>
          <a:bodyPr/>
          <a:lstStyle/>
          <a:p>
            <a:fld id="{50156EF1-94C6-4655-B9EE-7EB53BB54A9F}" type="slidenum">
              <a:rPr lang="en-IN" smtClean="0"/>
              <a:t>‹#›</a:t>
            </a:fld>
            <a:endParaRPr lang="en-IN"/>
          </a:p>
        </p:txBody>
      </p:sp>
    </p:spTree>
    <p:extLst>
      <p:ext uri="{BB962C8B-B14F-4D97-AF65-F5344CB8AC3E}">
        <p14:creationId xmlns:p14="http://schemas.microsoft.com/office/powerpoint/2010/main" val="31727747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68A1D3-9465-5C94-6B36-59E2F6441E3C}"/>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9DE0162-E7A0-00BF-2E91-0251B58C6BF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F4D0C22-224F-0667-BAF6-9B74F16B6F6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B019C5C-A2C0-A2F6-CBEE-00610CFC873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5926F8A-A775-0FBB-E68A-CCC3614012B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053274AB-C505-7079-6D6E-196D1D98BF0C}"/>
              </a:ext>
            </a:extLst>
          </p:cNvPr>
          <p:cNvSpPr>
            <a:spLocks noGrp="1"/>
          </p:cNvSpPr>
          <p:nvPr>
            <p:ph type="dt" sz="half" idx="10"/>
          </p:nvPr>
        </p:nvSpPr>
        <p:spPr/>
        <p:txBody>
          <a:bodyPr/>
          <a:lstStyle/>
          <a:p>
            <a:fld id="{FB9039FC-E147-46B1-A264-77555FAA9C2B}" type="datetimeFigureOut">
              <a:rPr lang="en-IN" smtClean="0"/>
              <a:t>14-11-2025</a:t>
            </a:fld>
            <a:endParaRPr lang="en-IN"/>
          </a:p>
        </p:txBody>
      </p:sp>
      <p:sp>
        <p:nvSpPr>
          <p:cNvPr id="8" name="Footer Placeholder 7">
            <a:extLst>
              <a:ext uri="{FF2B5EF4-FFF2-40B4-BE49-F238E27FC236}">
                <a16:creationId xmlns:a16="http://schemas.microsoft.com/office/drawing/2014/main" id="{DBFC3CF2-7964-7262-5F19-864CC50F38C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8E1E274E-27F0-EADE-4B5F-7C723E5051D2}"/>
              </a:ext>
            </a:extLst>
          </p:cNvPr>
          <p:cNvSpPr>
            <a:spLocks noGrp="1"/>
          </p:cNvSpPr>
          <p:nvPr>
            <p:ph type="sldNum" sz="quarter" idx="12"/>
          </p:nvPr>
        </p:nvSpPr>
        <p:spPr/>
        <p:txBody>
          <a:bodyPr/>
          <a:lstStyle/>
          <a:p>
            <a:fld id="{50156EF1-94C6-4655-B9EE-7EB53BB54A9F}" type="slidenum">
              <a:rPr lang="en-IN" smtClean="0"/>
              <a:t>‹#›</a:t>
            </a:fld>
            <a:endParaRPr lang="en-IN"/>
          </a:p>
        </p:txBody>
      </p:sp>
    </p:spTree>
    <p:extLst>
      <p:ext uri="{BB962C8B-B14F-4D97-AF65-F5344CB8AC3E}">
        <p14:creationId xmlns:p14="http://schemas.microsoft.com/office/powerpoint/2010/main" val="18693122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05CD81-171F-AC23-A797-CD06CE6BD02E}"/>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54461DC-C438-C2AC-B11A-85031FE1D69D}"/>
              </a:ext>
            </a:extLst>
          </p:cNvPr>
          <p:cNvSpPr>
            <a:spLocks noGrp="1"/>
          </p:cNvSpPr>
          <p:nvPr>
            <p:ph type="dt" sz="half" idx="10"/>
          </p:nvPr>
        </p:nvSpPr>
        <p:spPr/>
        <p:txBody>
          <a:bodyPr/>
          <a:lstStyle/>
          <a:p>
            <a:fld id="{FB9039FC-E147-46B1-A264-77555FAA9C2B}" type="datetimeFigureOut">
              <a:rPr lang="en-IN" smtClean="0"/>
              <a:t>14-11-2025</a:t>
            </a:fld>
            <a:endParaRPr lang="en-IN"/>
          </a:p>
        </p:txBody>
      </p:sp>
      <p:sp>
        <p:nvSpPr>
          <p:cNvPr id="4" name="Footer Placeholder 3">
            <a:extLst>
              <a:ext uri="{FF2B5EF4-FFF2-40B4-BE49-F238E27FC236}">
                <a16:creationId xmlns:a16="http://schemas.microsoft.com/office/drawing/2014/main" id="{D59DD507-78EC-CC4F-628F-99C77A2D42DB}"/>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FD70885D-F631-80D9-453D-D50DE9685A5C}"/>
              </a:ext>
            </a:extLst>
          </p:cNvPr>
          <p:cNvSpPr>
            <a:spLocks noGrp="1"/>
          </p:cNvSpPr>
          <p:nvPr>
            <p:ph type="sldNum" sz="quarter" idx="12"/>
          </p:nvPr>
        </p:nvSpPr>
        <p:spPr/>
        <p:txBody>
          <a:bodyPr/>
          <a:lstStyle/>
          <a:p>
            <a:fld id="{50156EF1-94C6-4655-B9EE-7EB53BB54A9F}" type="slidenum">
              <a:rPr lang="en-IN" smtClean="0"/>
              <a:t>‹#›</a:t>
            </a:fld>
            <a:endParaRPr lang="en-IN"/>
          </a:p>
        </p:txBody>
      </p:sp>
    </p:spTree>
    <p:extLst>
      <p:ext uri="{BB962C8B-B14F-4D97-AF65-F5344CB8AC3E}">
        <p14:creationId xmlns:p14="http://schemas.microsoft.com/office/powerpoint/2010/main" val="9824167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086FF84-AD14-719B-0895-018A599669C3}"/>
              </a:ext>
            </a:extLst>
          </p:cNvPr>
          <p:cNvSpPr>
            <a:spLocks noGrp="1"/>
          </p:cNvSpPr>
          <p:nvPr>
            <p:ph type="dt" sz="half" idx="10"/>
          </p:nvPr>
        </p:nvSpPr>
        <p:spPr/>
        <p:txBody>
          <a:bodyPr/>
          <a:lstStyle/>
          <a:p>
            <a:fld id="{FB9039FC-E147-46B1-A264-77555FAA9C2B}" type="datetimeFigureOut">
              <a:rPr lang="en-IN" smtClean="0"/>
              <a:t>14-11-2025</a:t>
            </a:fld>
            <a:endParaRPr lang="en-IN"/>
          </a:p>
        </p:txBody>
      </p:sp>
      <p:sp>
        <p:nvSpPr>
          <p:cNvPr id="3" name="Footer Placeholder 2">
            <a:extLst>
              <a:ext uri="{FF2B5EF4-FFF2-40B4-BE49-F238E27FC236}">
                <a16:creationId xmlns:a16="http://schemas.microsoft.com/office/drawing/2014/main" id="{2FEABC37-3A37-D5BE-3B79-055435720B2D}"/>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120FB238-7036-551B-C2C2-0D62F535DBF3}"/>
              </a:ext>
            </a:extLst>
          </p:cNvPr>
          <p:cNvSpPr>
            <a:spLocks noGrp="1"/>
          </p:cNvSpPr>
          <p:nvPr>
            <p:ph type="sldNum" sz="quarter" idx="12"/>
          </p:nvPr>
        </p:nvSpPr>
        <p:spPr/>
        <p:txBody>
          <a:bodyPr/>
          <a:lstStyle/>
          <a:p>
            <a:fld id="{50156EF1-94C6-4655-B9EE-7EB53BB54A9F}" type="slidenum">
              <a:rPr lang="en-IN" smtClean="0"/>
              <a:t>‹#›</a:t>
            </a:fld>
            <a:endParaRPr lang="en-IN"/>
          </a:p>
        </p:txBody>
      </p:sp>
    </p:spTree>
    <p:extLst>
      <p:ext uri="{BB962C8B-B14F-4D97-AF65-F5344CB8AC3E}">
        <p14:creationId xmlns:p14="http://schemas.microsoft.com/office/powerpoint/2010/main" val="32455988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8E7159-D6EE-3DCB-BECD-745848C11CF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002C8A6-B37C-0EAA-6B2D-DF72DCA8229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D719DC7-327F-D7B9-2022-2EC869FE3B7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5F44221-35D9-6252-FF4A-4F05778FE134}"/>
              </a:ext>
            </a:extLst>
          </p:cNvPr>
          <p:cNvSpPr>
            <a:spLocks noGrp="1"/>
          </p:cNvSpPr>
          <p:nvPr>
            <p:ph type="dt" sz="half" idx="10"/>
          </p:nvPr>
        </p:nvSpPr>
        <p:spPr/>
        <p:txBody>
          <a:bodyPr/>
          <a:lstStyle/>
          <a:p>
            <a:fld id="{FB9039FC-E147-46B1-A264-77555FAA9C2B}" type="datetimeFigureOut">
              <a:rPr lang="en-IN" smtClean="0"/>
              <a:t>14-11-2025</a:t>
            </a:fld>
            <a:endParaRPr lang="en-IN"/>
          </a:p>
        </p:txBody>
      </p:sp>
      <p:sp>
        <p:nvSpPr>
          <p:cNvPr id="6" name="Footer Placeholder 5">
            <a:extLst>
              <a:ext uri="{FF2B5EF4-FFF2-40B4-BE49-F238E27FC236}">
                <a16:creationId xmlns:a16="http://schemas.microsoft.com/office/drawing/2014/main" id="{4E0E0A33-766D-BCEB-92C3-FF614D6BFE7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88D3DBA-95A2-E2B0-4C52-2A5E442B0D6D}"/>
              </a:ext>
            </a:extLst>
          </p:cNvPr>
          <p:cNvSpPr>
            <a:spLocks noGrp="1"/>
          </p:cNvSpPr>
          <p:nvPr>
            <p:ph type="sldNum" sz="quarter" idx="12"/>
          </p:nvPr>
        </p:nvSpPr>
        <p:spPr/>
        <p:txBody>
          <a:bodyPr/>
          <a:lstStyle/>
          <a:p>
            <a:fld id="{50156EF1-94C6-4655-B9EE-7EB53BB54A9F}" type="slidenum">
              <a:rPr lang="en-IN" smtClean="0"/>
              <a:t>‹#›</a:t>
            </a:fld>
            <a:endParaRPr lang="en-IN"/>
          </a:p>
        </p:txBody>
      </p:sp>
    </p:spTree>
    <p:extLst>
      <p:ext uri="{BB962C8B-B14F-4D97-AF65-F5344CB8AC3E}">
        <p14:creationId xmlns:p14="http://schemas.microsoft.com/office/powerpoint/2010/main" val="33490620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7119CC-E7B0-1889-A1FC-06F6E09F536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D8AC9F00-3C7F-3FA2-E041-DB2DC6B2453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99620CDC-B2D7-D8A9-5BF9-DE218810D3E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AF6B4BF-4327-3025-F80A-B6A080484B63}"/>
              </a:ext>
            </a:extLst>
          </p:cNvPr>
          <p:cNvSpPr>
            <a:spLocks noGrp="1"/>
          </p:cNvSpPr>
          <p:nvPr>
            <p:ph type="dt" sz="half" idx="10"/>
          </p:nvPr>
        </p:nvSpPr>
        <p:spPr/>
        <p:txBody>
          <a:bodyPr/>
          <a:lstStyle/>
          <a:p>
            <a:fld id="{FB9039FC-E147-46B1-A264-77555FAA9C2B}" type="datetimeFigureOut">
              <a:rPr lang="en-IN" smtClean="0"/>
              <a:t>14-11-2025</a:t>
            </a:fld>
            <a:endParaRPr lang="en-IN"/>
          </a:p>
        </p:txBody>
      </p:sp>
      <p:sp>
        <p:nvSpPr>
          <p:cNvPr id="6" name="Footer Placeholder 5">
            <a:extLst>
              <a:ext uri="{FF2B5EF4-FFF2-40B4-BE49-F238E27FC236}">
                <a16:creationId xmlns:a16="http://schemas.microsoft.com/office/drawing/2014/main" id="{B2FCF6D3-8CFF-6B13-8DB1-0EA570170DC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E05C609-96D9-B6C1-7346-B229421ED868}"/>
              </a:ext>
            </a:extLst>
          </p:cNvPr>
          <p:cNvSpPr>
            <a:spLocks noGrp="1"/>
          </p:cNvSpPr>
          <p:nvPr>
            <p:ph type="sldNum" sz="quarter" idx="12"/>
          </p:nvPr>
        </p:nvSpPr>
        <p:spPr/>
        <p:txBody>
          <a:bodyPr/>
          <a:lstStyle/>
          <a:p>
            <a:fld id="{50156EF1-94C6-4655-B9EE-7EB53BB54A9F}" type="slidenum">
              <a:rPr lang="en-IN" smtClean="0"/>
              <a:t>‹#›</a:t>
            </a:fld>
            <a:endParaRPr lang="en-IN"/>
          </a:p>
        </p:txBody>
      </p:sp>
    </p:spTree>
    <p:extLst>
      <p:ext uri="{BB962C8B-B14F-4D97-AF65-F5344CB8AC3E}">
        <p14:creationId xmlns:p14="http://schemas.microsoft.com/office/powerpoint/2010/main" val="36371566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A1444C-AB5E-9D5A-769A-12F22B5C6CF1}"/>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E352F39-EED3-FA4A-3E5E-F67B5C45F8B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2DBA142-2354-CD8D-EA93-315420967A86}"/>
              </a:ext>
            </a:extLst>
          </p:cNvPr>
          <p:cNvSpPr>
            <a:spLocks noGrp="1"/>
          </p:cNvSpPr>
          <p:nvPr>
            <p:ph type="dt" sz="half" idx="10"/>
          </p:nvPr>
        </p:nvSpPr>
        <p:spPr/>
        <p:txBody>
          <a:bodyPr/>
          <a:lstStyle/>
          <a:p>
            <a:fld id="{FB9039FC-E147-46B1-A264-77555FAA9C2B}" type="datetimeFigureOut">
              <a:rPr lang="en-IN" smtClean="0"/>
              <a:t>14-11-2025</a:t>
            </a:fld>
            <a:endParaRPr lang="en-IN"/>
          </a:p>
        </p:txBody>
      </p:sp>
      <p:sp>
        <p:nvSpPr>
          <p:cNvPr id="5" name="Footer Placeholder 4">
            <a:extLst>
              <a:ext uri="{FF2B5EF4-FFF2-40B4-BE49-F238E27FC236}">
                <a16:creationId xmlns:a16="http://schemas.microsoft.com/office/drawing/2014/main" id="{A4CADEA7-FB28-1EAC-85E0-1348B60CC48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D244054-2E1B-90BC-9560-9AFF7C180D3A}"/>
              </a:ext>
            </a:extLst>
          </p:cNvPr>
          <p:cNvSpPr>
            <a:spLocks noGrp="1"/>
          </p:cNvSpPr>
          <p:nvPr>
            <p:ph type="sldNum" sz="quarter" idx="12"/>
          </p:nvPr>
        </p:nvSpPr>
        <p:spPr/>
        <p:txBody>
          <a:bodyPr/>
          <a:lstStyle/>
          <a:p>
            <a:fld id="{50156EF1-94C6-4655-B9EE-7EB53BB54A9F}" type="slidenum">
              <a:rPr lang="en-IN" smtClean="0"/>
              <a:t>‹#›</a:t>
            </a:fld>
            <a:endParaRPr lang="en-IN"/>
          </a:p>
        </p:txBody>
      </p:sp>
    </p:spTree>
    <p:extLst>
      <p:ext uri="{BB962C8B-B14F-4D97-AF65-F5344CB8AC3E}">
        <p14:creationId xmlns:p14="http://schemas.microsoft.com/office/powerpoint/2010/main" val="5403624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E6ACE62-8435-74E5-2DAF-841EF970C6E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AA7907C-081E-2752-0E24-EF23E5C0561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1A88FCD-5421-2D43-F064-75B5F825C8B7}"/>
              </a:ext>
            </a:extLst>
          </p:cNvPr>
          <p:cNvSpPr>
            <a:spLocks noGrp="1"/>
          </p:cNvSpPr>
          <p:nvPr>
            <p:ph type="dt" sz="half" idx="10"/>
          </p:nvPr>
        </p:nvSpPr>
        <p:spPr/>
        <p:txBody>
          <a:bodyPr/>
          <a:lstStyle/>
          <a:p>
            <a:fld id="{FB9039FC-E147-46B1-A264-77555FAA9C2B}" type="datetimeFigureOut">
              <a:rPr lang="en-IN" smtClean="0"/>
              <a:t>14-11-2025</a:t>
            </a:fld>
            <a:endParaRPr lang="en-IN"/>
          </a:p>
        </p:txBody>
      </p:sp>
      <p:sp>
        <p:nvSpPr>
          <p:cNvPr id="5" name="Footer Placeholder 4">
            <a:extLst>
              <a:ext uri="{FF2B5EF4-FFF2-40B4-BE49-F238E27FC236}">
                <a16:creationId xmlns:a16="http://schemas.microsoft.com/office/drawing/2014/main" id="{22E96C19-C7AA-0F31-BCAC-C9DA709EE59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81CD0C7-7EB2-38FE-14AB-6E380E15ECD0}"/>
              </a:ext>
            </a:extLst>
          </p:cNvPr>
          <p:cNvSpPr>
            <a:spLocks noGrp="1"/>
          </p:cNvSpPr>
          <p:nvPr>
            <p:ph type="sldNum" sz="quarter" idx="12"/>
          </p:nvPr>
        </p:nvSpPr>
        <p:spPr/>
        <p:txBody>
          <a:bodyPr/>
          <a:lstStyle/>
          <a:p>
            <a:fld id="{50156EF1-94C6-4655-B9EE-7EB53BB54A9F}" type="slidenum">
              <a:rPr lang="en-IN" smtClean="0"/>
              <a:t>‹#›</a:t>
            </a:fld>
            <a:endParaRPr lang="en-IN"/>
          </a:p>
        </p:txBody>
      </p:sp>
    </p:spTree>
    <p:extLst>
      <p:ext uri="{BB962C8B-B14F-4D97-AF65-F5344CB8AC3E}">
        <p14:creationId xmlns:p14="http://schemas.microsoft.com/office/powerpoint/2010/main" val="12057850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3E382C9-97DF-121A-F34E-A8FA62B1539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6C8B095-B930-E15B-A5B7-D49685D2284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8546D6B-757D-2137-38D5-8A8865D9E17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B9039FC-E147-46B1-A264-77555FAA9C2B}" type="datetimeFigureOut">
              <a:rPr lang="en-IN" smtClean="0"/>
              <a:t>14-11-2025</a:t>
            </a:fld>
            <a:endParaRPr lang="en-IN"/>
          </a:p>
        </p:txBody>
      </p:sp>
      <p:sp>
        <p:nvSpPr>
          <p:cNvPr id="5" name="Footer Placeholder 4">
            <a:extLst>
              <a:ext uri="{FF2B5EF4-FFF2-40B4-BE49-F238E27FC236}">
                <a16:creationId xmlns:a16="http://schemas.microsoft.com/office/drawing/2014/main" id="{27497A2F-60EB-F698-7AD7-17750569626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384F80D7-FFA8-ABC4-3BA3-897F3F1435A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0156EF1-94C6-4655-B9EE-7EB53BB54A9F}" type="slidenum">
              <a:rPr lang="en-IN" smtClean="0"/>
              <a:t>‹#›</a:t>
            </a:fld>
            <a:endParaRPr lang="en-IN"/>
          </a:p>
        </p:txBody>
      </p:sp>
    </p:spTree>
    <p:extLst>
      <p:ext uri="{BB962C8B-B14F-4D97-AF65-F5344CB8AC3E}">
        <p14:creationId xmlns:p14="http://schemas.microsoft.com/office/powerpoint/2010/main" val="218776353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CCF230-0776-5D9E-E53E-1A6CCD486BF4}"/>
              </a:ext>
            </a:extLst>
          </p:cNvPr>
          <p:cNvSpPr>
            <a:spLocks noGrp="1"/>
          </p:cNvSpPr>
          <p:nvPr>
            <p:ph type="ctrTitle"/>
          </p:nvPr>
        </p:nvSpPr>
        <p:spPr/>
        <p:txBody>
          <a:bodyPr/>
          <a:lstStyle/>
          <a:p>
            <a:r>
              <a:rPr lang="en-IN" dirty="0"/>
              <a:t>Snowflake </a:t>
            </a:r>
          </a:p>
        </p:txBody>
      </p:sp>
    </p:spTree>
    <p:extLst>
      <p:ext uri="{BB962C8B-B14F-4D97-AF65-F5344CB8AC3E}">
        <p14:creationId xmlns:p14="http://schemas.microsoft.com/office/powerpoint/2010/main" val="11803442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81A338-E448-F3F1-B755-1E4D2EC201B9}"/>
              </a:ext>
            </a:extLst>
          </p:cNvPr>
          <p:cNvSpPr>
            <a:spLocks noGrp="1"/>
          </p:cNvSpPr>
          <p:nvPr>
            <p:ph type="title"/>
          </p:nvPr>
        </p:nvSpPr>
        <p:spPr>
          <a:xfrm>
            <a:off x="4869873" y="1"/>
            <a:ext cx="2445327" cy="872836"/>
          </a:xfrm>
        </p:spPr>
        <p:txBody>
          <a:bodyPr/>
          <a:lstStyle/>
          <a:p>
            <a:r>
              <a:rPr lang="en-IN" b="1" dirty="0"/>
              <a:t>Intro</a:t>
            </a:r>
          </a:p>
        </p:txBody>
      </p:sp>
      <p:sp>
        <p:nvSpPr>
          <p:cNvPr id="3" name="Content Placeholder 2">
            <a:extLst>
              <a:ext uri="{FF2B5EF4-FFF2-40B4-BE49-F238E27FC236}">
                <a16:creationId xmlns:a16="http://schemas.microsoft.com/office/drawing/2014/main" id="{862886FF-D364-66D4-4BC2-7870D96F784C}"/>
              </a:ext>
            </a:extLst>
          </p:cNvPr>
          <p:cNvSpPr>
            <a:spLocks noGrp="1"/>
          </p:cNvSpPr>
          <p:nvPr>
            <p:ph idx="1"/>
          </p:nvPr>
        </p:nvSpPr>
        <p:spPr>
          <a:xfrm>
            <a:off x="277090" y="1253331"/>
            <a:ext cx="11682845" cy="4351338"/>
          </a:xfrm>
        </p:spPr>
        <p:txBody>
          <a:bodyPr>
            <a:normAutofit fontScale="77500" lnSpcReduction="20000"/>
          </a:bodyPr>
          <a:lstStyle/>
          <a:p>
            <a:r>
              <a:rPr lang="en-US" dirty="0">
                <a:effectLst/>
              </a:rPr>
              <a:t>Snowflake is a </a:t>
            </a:r>
            <a:r>
              <a:rPr lang="en-US" b="1" dirty="0">
                <a:effectLst/>
                <a:highlight>
                  <a:srgbClr val="FFFF00"/>
                </a:highlight>
              </a:rPr>
              <a:t>fully managed, cloud-native data platform designed to unify data storage, processing, analytics, and AI workloads</a:t>
            </a:r>
            <a:r>
              <a:rPr lang="en-US" dirty="0">
                <a:effectLst/>
              </a:rPr>
              <a:t> in a single, scalable environment.</a:t>
            </a:r>
          </a:p>
          <a:p>
            <a:endParaRPr lang="en-US" dirty="0"/>
          </a:p>
          <a:p>
            <a:r>
              <a:rPr lang="en-US" dirty="0">
                <a:effectLst/>
              </a:rPr>
              <a:t>it operates as a SaaS (Software as a Service) solution across major cloud providers—</a:t>
            </a:r>
            <a:r>
              <a:rPr lang="en-US" b="1" dirty="0">
                <a:effectLst/>
                <a:highlight>
                  <a:srgbClr val="FFFF00"/>
                </a:highlight>
              </a:rPr>
              <a:t>AWS, Azure, and Google Cloud</a:t>
            </a:r>
            <a:r>
              <a:rPr lang="en-US" dirty="0">
                <a:effectLst/>
              </a:rPr>
              <a:t>—eliminating the need for users to manage hardware, software installations, or infrastructure maintenance.</a:t>
            </a:r>
          </a:p>
          <a:p>
            <a:endParaRPr lang="en-US" dirty="0"/>
          </a:p>
          <a:p>
            <a:r>
              <a:rPr lang="en-US" dirty="0">
                <a:effectLst/>
              </a:rPr>
              <a:t>Snowflake combines a </a:t>
            </a:r>
            <a:r>
              <a:rPr lang="en-US" b="1" dirty="0">
                <a:effectLst/>
                <a:highlight>
                  <a:srgbClr val="FFFF00"/>
                </a:highlight>
              </a:rPr>
              <a:t>SQL-based query engine with cloud-native architecture</a:t>
            </a:r>
            <a:r>
              <a:rPr lang="en-US" dirty="0">
                <a:effectLst/>
              </a:rPr>
              <a:t>, supporting a wide range of </a:t>
            </a:r>
            <a:r>
              <a:rPr lang="en-US" b="1" dirty="0">
                <a:effectLst/>
                <a:highlight>
                  <a:srgbClr val="FFFF00"/>
                </a:highlight>
              </a:rPr>
              <a:t>use cases including data warehousing, data lakes, data engineering, data science, machine learning (ML), application development, and secure real-time data sharing.</a:t>
            </a:r>
          </a:p>
          <a:p>
            <a:endParaRPr lang="en-US" b="1" dirty="0">
              <a:highlight>
                <a:srgbClr val="FFFF00"/>
              </a:highlight>
            </a:endParaRPr>
          </a:p>
          <a:p>
            <a:r>
              <a:rPr lang="en-US" dirty="0">
                <a:effectLst/>
              </a:rPr>
              <a:t>As of 2025, enhancements like </a:t>
            </a:r>
            <a:r>
              <a:rPr lang="en-US" b="1" dirty="0" err="1">
                <a:effectLst/>
                <a:highlight>
                  <a:srgbClr val="FFFF00"/>
                </a:highlight>
              </a:rPr>
              <a:t>Unistore</a:t>
            </a:r>
            <a:r>
              <a:rPr lang="en-US" b="1" dirty="0">
                <a:effectLst/>
                <a:highlight>
                  <a:srgbClr val="FFFF00"/>
                </a:highlight>
              </a:rPr>
              <a:t> (combining OLTP and OLAP) </a:t>
            </a:r>
            <a:r>
              <a:rPr lang="en-US" dirty="0">
                <a:effectLst/>
              </a:rPr>
              <a:t>and </a:t>
            </a:r>
            <a:r>
              <a:rPr lang="en-US" b="1" dirty="0">
                <a:effectLst/>
                <a:highlight>
                  <a:srgbClr val="FFFF00"/>
                </a:highlight>
              </a:rPr>
              <a:t>hybrid tables</a:t>
            </a:r>
            <a:r>
              <a:rPr lang="en-US" dirty="0">
                <a:effectLst/>
              </a:rPr>
              <a:t> further </a:t>
            </a:r>
            <a:r>
              <a:rPr lang="en-US" b="1" dirty="0">
                <a:effectLst/>
                <a:highlight>
                  <a:srgbClr val="FFFF00"/>
                </a:highlight>
              </a:rPr>
              <a:t>extend its capabilities to transactional processing alongside analytics.</a:t>
            </a:r>
          </a:p>
          <a:p>
            <a:endParaRPr lang="en-US" b="1" dirty="0">
              <a:effectLst/>
              <a:highlight>
                <a:srgbClr val="FFFF00"/>
              </a:highlight>
            </a:endParaRPr>
          </a:p>
          <a:p>
            <a:endParaRPr lang="en-US" dirty="0">
              <a:effectLst/>
            </a:endParaRPr>
          </a:p>
          <a:p>
            <a:endParaRPr lang="en-US" dirty="0">
              <a:effectLst/>
            </a:endParaRPr>
          </a:p>
          <a:p>
            <a:endParaRPr lang="en-IN" dirty="0"/>
          </a:p>
        </p:txBody>
      </p:sp>
    </p:spTree>
    <p:extLst>
      <p:ext uri="{BB962C8B-B14F-4D97-AF65-F5344CB8AC3E}">
        <p14:creationId xmlns:p14="http://schemas.microsoft.com/office/powerpoint/2010/main" val="5406824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E51ED4-C6DA-63CD-7C3C-2EFBB03629B3}"/>
              </a:ext>
            </a:extLst>
          </p:cNvPr>
          <p:cNvSpPr>
            <a:spLocks noGrp="1"/>
          </p:cNvSpPr>
          <p:nvPr>
            <p:ph type="title"/>
          </p:nvPr>
        </p:nvSpPr>
        <p:spPr>
          <a:xfrm>
            <a:off x="4267200" y="18255"/>
            <a:ext cx="10515600" cy="1325563"/>
          </a:xfrm>
        </p:spPr>
        <p:txBody>
          <a:bodyPr/>
          <a:lstStyle/>
          <a:p>
            <a:r>
              <a:rPr lang="en-IN" dirty="0">
                <a:effectLst/>
              </a:rPr>
              <a:t>Key features</a:t>
            </a:r>
            <a:br>
              <a:rPr lang="en-IN" dirty="0">
                <a:effectLst/>
              </a:rPr>
            </a:br>
            <a:endParaRPr lang="en-IN" dirty="0"/>
          </a:p>
        </p:txBody>
      </p:sp>
      <p:sp>
        <p:nvSpPr>
          <p:cNvPr id="3" name="Content Placeholder 2">
            <a:extLst>
              <a:ext uri="{FF2B5EF4-FFF2-40B4-BE49-F238E27FC236}">
                <a16:creationId xmlns:a16="http://schemas.microsoft.com/office/drawing/2014/main" id="{68A9E6F0-C83C-FF63-2B7A-FA34FD0FB252}"/>
              </a:ext>
            </a:extLst>
          </p:cNvPr>
          <p:cNvSpPr>
            <a:spLocks noGrp="1"/>
          </p:cNvSpPr>
          <p:nvPr>
            <p:ph idx="1"/>
          </p:nvPr>
        </p:nvSpPr>
        <p:spPr>
          <a:xfrm>
            <a:off x="183572" y="1170997"/>
            <a:ext cx="11890664" cy="5520747"/>
          </a:xfrm>
        </p:spPr>
        <p:txBody>
          <a:bodyPr>
            <a:normAutofit/>
          </a:bodyPr>
          <a:lstStyle/>
          <a:p>
            <a:r>
              <a:rPr lang="en-US" b="1" dirty="0">
                <a:highlight>
                  <a:srgbClr val="FFFF00"/>
                </a:highlight>
              </a:rPr>
              <a:t>Elastic Scalability: </a:t>
            </a:r>
            <a:r>
              <a:rPr lang="en-US" dirty="0"/>
              <a:t>Independently scale storage and compute resources on demand, paying only for what you use, which optimizes costs and handles variable workloads efficiently.</a:t>
            </a:r>
          </a:p>
          <a:p>
            <a:r>
              <a:rPr lang="en-US" b="1" dirty="0">
                <a:highlight>
                  <a:srgbClr val="FFFF00"/>
                </a:highlight>
              </a:rPr>
              <a:t>Concurrency and Performance: </a:t>
            </a:r>
            <a:r>
              <a:rPr lang="en-US" dirty="0"/>
              <a:t>Supports unlimited concurrent users and queries without resource contention, leveraging multi-cluster isolation for consistent speed.</a:t>
            </a:r>
          </a:p>
          <a:p>
            <a:r>
              <a:rPr lang="en-US" b="1" dirty="0">
                <a:highlight>
                  <a:srgbClr val="FFFF00"/>
                </a:highlight>
              </a:rPr>
              <a:t>Data Sharing and Collaboration: </a:t>
            </a:r>
            <a:r>
              <a:rPr lang="en-US" dirty="0"/>
              <a:t>Enables secure, zero-copy data sharing across organizations via the Snowflake Marketplace, Data Clean Rooms, and reader accounts—no data movement required.</a:t>
            </a:r>
          </a:p>
          <a:p>
            <a:r>
              <a:rPr lang="en-US" b="1" dirty="0">
                <a:highlight>
                  <a:srgbClr val="FFFF00"/>
                </a:highlight>
              </a:rPr>
              <a:t>AI and ML Integration: </a:t>
            </a:r>
            <a:r>
              <a:rPr lang="en-US" dirty="0"/>
              <a:t>Simplifies feature engineering, model training, and inference directly on Snowflake data, avoiding costly data exports to external platforms.</a:t>
            </a:r>
            <a:endParaRPr lang="en-IN" dirty="0"/>
          </a:p>
        </p:txBody>
      </p:sp>
    </p:spTree>
    <p:extLst>
      <p:ext uri="{BB962C8B-B14F-4D97-AF65-F5344CB8AC3E}">
        <p14:creationId xmlns:p14="http://schemas.microsoft.com/office/powerpoint/2010/main" val="26128676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4CBB7F-33E6-9727-4EDF-A3A155A6728A}"/>
              </a:ext>
            </a:extLst>
          </p:cNvPr>
          <p:cNvSpPr>
            <a:spLocks noGrp="1"/>
          </p:cNvSpPr>
          <p:nvPr>
            <p:ph type="title"/>
          </p:nvPr>
        </p:nvSpPr>
        <p:spPr>
          <a:xfrm>
            <a:off x="0" y="1"/>
            <a:ext cx="10515600" cy="820882"/>
          </a:xfrm>
        </p:spPr>
        <p:txBody>
          <a:bodyPr/>
          <a:lstStyle/>
          <a:p>
            <a:r>
              <a:rPr lang="en-IN" dirty="0"/>
              <a:t>Snowflake Setup</a:t>
            </a:r>
          </a:p>
        </p:txBody>
      </p:sp>
      <p:pic>
        <p:nvPicPr>
          <p:cNvPr id="5" name="Picture 4">
            <a:extLst>
              <a:ext uri="{FF2B5EF4-FFF2-40B4-BE49-F238E27FC236}">
                <a16:creationId xmlns:a16="http://schemas.microsoft.com/office/drawing/2014/main" id="{AE9C6FA2-3FFC-D568-9AEE-2AD5C6ADB4DE}"/>
              </a:ext>
            </a:extLst>
          </p:cNvPr>
          <p:cNvPicPr>
            <a:picLocks noChangeAspect="1"/>
          </p:cNvPicPr>
          <p:nvPr/>
        </p:nvPicPr>
        <p:blipFill>
          <a:blip r:embed="rId2"/>
          <a:stretch>
            <a:fillRect/>
          </a:stretch>
        </p:blipFill>
        <p:spPr>
          <a:xfrm>
            <a:off x="0" y="1413164"/>
            <a:ext cx="12192000" cy="5444836"/>
          </a:xfrm>
          <a:prstGeom prst="rect">
            <a:avLst/>
          </a:prstGeom>
        </p:spPr>
      </p:pic>
      <p:pic>
        <p:nvPicPr>
          <p:cNvPr id="7" name="Picture 6">
            <a:extLst>
              <a:ext uri="{FF2B5EF4-FFF2-40B4-BE49-F238E27FC236}">
                <a16:creationId xmlns:a16="http://schemas.microsoft.com/office/drawing/2014/main" id="{1E24D02F-3DC7-F6A4-1DD8-6F4CEDD2E7D4}"/>
              </a:ext>
            </a:extLst>
          </p:cNvPr>
          <p:cNvPicPr>
            <a:picLocks noChangeAspect="1"/>
          </p:cNvPicPr>
          <p:nvPr/>
        </p:nvPicPr>
        <p:blipFill>
          <a:blip r:embed="rId3"/>
          <a:stretch>
            <a:fillRect/>
          </a:stretch>
        </p:blipFill>
        <p:spPr>
          <a:xfrm>
            <a:off x="4380823" y="0"/>
            <a:ext cx="7811177" cy="1417443"/>
          </a:xfrm>
          <a:prstGeom prst="rect">
            <a:avLst/>
          </a:prstGeom>
        </p:spPr>
      </p:pic>
    </p:spTree>
    <p:extLst>
      <p:ext uri="{BB962C8B-B14F-4D97-AF65-F5344CB8AC3E}">
        <p14:creationId xmlns:p14="http://schemas.microsoft.com/office/powerpoint/2010/main" val="5987437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614860C-2EB2-5FDA-430A-6530C114598A}"/>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2640551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A45082-E2FA-CC37-5041-1FC81D536B31}"/>
              </a:ext>
            </a:extLst>
          </p:cNvPr>
          <p:cNvSpPr>
            <a:spLocks noGrp="1"/>
          </p:cNvSpPr>
          <p:nvPr>
            <p:ph type="title"/>
          </p:nvPr>
        </p:nvSpPr>
        <p:spPr>
          <a:xfrm>
            <a:off x="3622963" y="0"/>
            <a:ext cx="10515600" cy="1325563"/>
          </a:xfrm>
        </p:spPr>
        <p:txBody>
          <a:bodyPr/>
          <a:lstStyle/>
          <a:p>
            <a:r>
              <a:rPr lang="en-IN" dirty="0">
                <a:effectLst/>
              </a:rPr>
              <a:t>Snowflake Architecture</a:t>
            </a:r>
            <a:br>
              <a:rPr lang="en-IN" dirty="0">
                <a:effectLst/>
              </a:rPr>
            </a:br>
            <a:endParaRPr lang="en-IN" dirty="0"/>
          </a:p>
        </p:txBody>
      </p:sp>
      <p:sp>
        <p:nvSpPr>
          <p:cNvPr id="3" name="Content Placeholder 2">
            <a:extLst>
              <a:ext uri="{FF2B5EF4-FFF2-40B4-BE49-F238E27FC236}">
                <a16:creationId xmlns:a16="http://schemas.microsoft.com/office/drawing/2014/main" id="{0FFC43DD-8D8A-C1CC-728E-817A58C6C5F1}"/>
              </a:ext>
            </a:extLst>
          </p:cNvPr>
          <p:cNvSpPr>
            <a:spLocks noGrp="1"/>
          </p:cNvSpPr>
          <p:nvPr>
            <p:ph idx="1"/>
          </p:nvPr>
        </p:nvSpPr>
        <p:spPr>
          <a:xfrm>
            <a:off x="277090" y="1451552"/>
            <a:ext cx="11339945" cy="4351338"/>
          </a:xfrm>
        </p:spPr>
        <p:txBody>
          <a:bodyPr/>
          <a:lstStyle/>
          <a:p>
            <a:r>
              <a:rPr lang="en-US" dirty="0">
                <a:effectLst/>
              </a:rPr>
              <a:t>Snowflake's architecture is </a:t>
            </a:r>
            <a:r>
              <a:rPr lang="en-US" b="1" dirty="0">
                <a:effectLst/>
                <a:highlight>
                  <a:srgbClr val="FFFF00"/>
                </a:highlight>
              </a:rPr>
              <a:t>uniquely designed for the cloud</a:t>
            </a:r>
            <a:r>
              <a:rPr lang="en-US" dirty="0">
                <a:effectLst/>
              </a:rPr>
              <a:t>, blending the </a:t>
            </a:r>
            <a:r>
              <a:rPr lang="en-US" b="1" dirty="0">
                <a:effectLst/>
                <a:highlight>
                  <a:srgbClr val="FFFF00"/>
                </a:highlight>
              </a:rPr>
              <a:t>simplicity</a:t>
            </a:r>
            <a:r>
              <a:rPr lang="en-US" dirty="0">
                <a:effectLst/>
              </a:rPr>
              <a:t> of </a:t>
            </a:r>
            <a:r>
              <a:rPr lang="en-US" b="1" dirty="0">
                <a:effectLst/>
                <a:highlight>
                  <a:srgbClr val="FFFF00"/>
                </a:highlight>
              </a:rPr>
              <a:t>shared-disk systems (centralized storage) </a:t>
            </a:r>
            <a:r>
              <a:rPr lang="en-US" dirty="0">
                <a:effectLst/>
              </a:rPr>
              <a:t>with the </a:t>
            </a:r>
            <a:r>
              <a:rPr lang="en-US" b="1" dirty="0">
                <a:solidFill>
                  <a:srgbClr val="FF0000"/>
                </a:solidFill>
                <a:effectLst/>
                <a:highlight>
                  <a:srgbClr val="FFFF00"/>
                </a:highlight>
              </a:rPr>
              <a:t>scalability of shared-nothing models (distributed compute).</a:t>
            </a:r>
          </a:p>
          <a:p>
            <a:endParaRPr lang="en-US" dirty="0"/>
          </a:p>
          <a:p>
            <a:r>
              <a:rPr lang="en-US" dirty="0">
                <a:effectLst/>
              </a:rPr>
              <a:t>The platform consists of </a:t>
            </a:r>
            <a:r>
              <a:rPr lang="en-US" b="1" dirty="0">
                <a:solidFill>
                  <a:srgbClr val="FF0000"/>
                </a:solidFill>
                <a:effectLst/>
              </a:rPr>
              <a:t>three decoupled </a:t>
            </a:r>
            <a:r>
              <a:rPr lang="en-US" dirty="0">
                <a:effectLst/>
              </a:rPr>
              <a:t>layers—Storage, Compute, and Cloud Services—that </a:t>
            </a:r>
            <a:r>
              <a:rPr lang="en-US" b="1" dirty="0">
                <a:solidFill>
                  <a:srgbClr val="FF0000"/>
                </a:solidFill>
                <a:effectLst/>
              </a:rPr>
              <a:t>integrate logically </a:t>
            </a:r>
            <a:r>
              <a:rPr lang="en-US" dirty="0">
                <a:effectLst/>
              </a:rPr>
              <a:t>while </a:t>
            </a:r>
            <a:r>
              <a:rPr lang="en-US" b="1" dirty="0">
                <a:solidFill>
                  <a:srgbClr val="FF0000"/>
                </a:solidFill>
                <a:effectLst/>
              </a:rPr>
              <a:t>operating independently </a:t>
            </a:r>
            <a:r>
              <a:rPr lang="en-US" dirty="0">
                <a:effectLst/>
              </a:rPr>
              <a:t>for flexibility.</a:t>
            </a:r>
          </a:p>
          <a:p>
            <a:endParaRPr lang="en-US" dirty="0">
              <a:effectLst/>
            </a:endParaRPr>
          </a:p>
          <a:p>
            <a:endParaRPr lang="en-IN" dirty="0"/>
          </a:p>
        </p:txBody>
      </p:sp>
    </p:spTree>
    <p:extLst>
      <p:ext uri="{BB962C8B-B14F-4D97-AF65-F5344CB8AC3E}">
        <p14:creationId xmlns:p14="http://schemas.microsoft.com/office/powerpoint/2010/main" val="17011780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Snowflake_Architecture_2">
            <a:extLst>
              <a:ext uri="{FF2B5EF4-FFF2-40B4-BE49-F238E27FC236}">
                <a16:creationId xmlns:a16="http://schemas.microsoft.com/office/drawing/2014/main" id="{CD4FC09B-7954-C794-F720-1C5932F615CB}"/>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 y="0"/>
            <a:ext cx="12192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011136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83F60D88-6689-22E0-6B26-B39D788AD49C}"/>
              </a:ext>
            </a:extLst>
          </p:cNvPr>
          <p:cNvGraphicFramePr>
            <a:graphicFrameLocks noGrp="1"/>
          </p:cNvGraphicFramePr>
          <p:nvPr>
            <p:extLst>
              <p:ext uri="{D42A27DB-BD31-4B8C-83A1-F6EECF244321}">
                <p14:modId xmlns:p14="http://schemas.microsoft.com/office/powerpoint/2010/main" val="4037004095"/>
              </p:ext>
            </p:extLst>
          </p:nvPr>
        </p:nvGraphicFramePr>
        <p:xfrm>
          <a:off x="0" y="0"/>
          <a:ext cx="12192000" cy="6978221"/>
        </p:xfrm>
        <a:graphic>
          <a:graphicData uri="http://schemas.openxmlformats.org/drawingml/2006/table">
            <a:tbl>
              <a:tblPr/>
              <a:tblGrid>
                <a:gridCol w="4064000">
                  <a:extLst>
                    <a:ext uri="{9D8B030D-6E8A-4147-A177-3AD203B41FA5}">
                      <a16:colId xmlns:a16="http://schemas.microsoft.com/office/drawing/2014/main" val="613724903"/>
                    </a:ext>
                  </a:extLst>
                </a:gridCol>
                <a:gridCol w="4064000">
                  <a:extLst>
                    <a:ext uri="{9D8B030D-6E8A-4147-A177-3AD203B41FA5}">
                      <a16:colId xmlns:a16="http://schemas.microsoft.com/office/drawing/2014/main" val="3398905315"/>
                    </a:ext>
                  </a:extLst>
                </a:gridCol>
                <a:gridCol w="4064000">
                  <a:extLst>
                    <a:ext uri="{9D8B030D-6E8A-4147-A177-3AD203B41FA5}">
                      <a16:colId xmlns:a16="http://schemas.microsoft.com/office/drawing/2014/main" val="1547795572"/>
                    </a:ext>
                  </a:extLst>
                </a:gridCol>
              </a:tblGrid>
              <a:tr h="291829">
                <a:tc>
                  <a:txBody>
                    <a:bodyPr/>
                    <a:lstStyle/>
                    <a:p>
                      <a:pPr>
                        <a:buNone/>
                      </a:pPr>
                      <a:r>
                        <a:rPr lang="en-IN" sz="2400" b="1">
                          <a:solidFill>
                            <a:srgbClr val="FF0000"/>
                          </a:solidFill>
                          <a:highlight>
                            <a:srgbClr val="FFFF00"/>
                          </a:highlight>
                        </a:rPr>
                        <a:t>Layer</a:t>
                      </a:r>
                    </a:p>
                  </a:txBody>
                  <a:tcPr marL="46291" marR="46291" marT="23145" marB="23145" anchor="ctr">
                    <a:lnL>
                      <a:noFill/>
                    </a:lnL>
                    <a:lnR>
                      <a:noFill/>
                    </a:lnR>
                    <a:lnT>
                      <a:noFill/>
                    </a:lnT>
                    <a:lnB>
                      <a:noFill/>
                    </a:lnB>
                    <a:noFill/>
                  </a:tcPr>
                </a:tc>
                <a:tc>
                  <a:txBody>
                    <a:bodyPr/>
                    <a:lstStyle/>
                    <a:p>
                      <a:pPr>
                        <a:buNone/>
                      </a:pPr>
                      <a:r>
                        <a:rPr lang="en-IN" sz="2400" b="1" dirty="0">
                          <a:solidFill>
                            <a:srgbClr val="FF0000"/>
                          </a:solidFill>
                          <a:highlight>
                            <a:srgbClr val="FFFF00"/>
                          </a:highlight>
                        </a:rPr>
                        <a:t>Description</a:t>
                      </a:r>
                    </a:p>
                  </a:txBody>
                  <a:tcPr marL="46291" marR="46291" marT="23145" marB="23145" anchor="ctr">
                    <a:lnL>
                      <a:noFill/>
                    </a:lnL>
                    <a:lnR>
                      <a:noFill/>
                    </a:lnR>
                    <a:lnT>
                      <a:noFill/>
                    </a:lnT>
                    <a:lnB>
                      <a:noFill/>
                    </a:lnB>
                    <a:noFill/>
                  </a:tcPr>
                </a:tc>
                <a:tc>
                  <a:txBody>
                    <a:bodyPr/>
                    <a:lstStyle/>
                    <a:p>
                      <a:pPr>
                        <a:buNone/>
                      </a:pPr>
                      <a:r>
                        <a:rPr lang="en-IN" sz="2400" b="1" dirty="0">
                          <a:solidFill>
                            <a:srgbClr val="FF0000"/>
                          </a:solidFill>
                          <a:highlight>
                            <a:srgbClr val="FFFF00"/>
                          </a:highlight>
                        </a:rPr>
                        <a:t>Key Components and Features</a:t>
                      </a:r>
                    </a:p>
                  </a:txBody>
                  <a:tcPr marL="46291" marR="46291" marT="23145" marB="23145" anchor="ctr">
                    <a:lnL>
                      <a:noFill/>
                    </a:lnL>
                    <a:lnR>
                      <a:noFill/>
                    </a:lnR>
                    <a:lnT>
                      <a:noFill/>
                    </a:lnT>
                    <a:lnB>
                      <a:noFill/>
                    </a:lnB>
                    <a:noFill/>
                  </a:tcPr>
                </a:tc>
                <a:extLst>
                  <a:ext uri="{0D108BD9-81ED-4DB2-BD59-A6C34878D82A}">
                    <a16:rowId xmlns:a16="http://schemas.microsoft.com/office/drawing/2014/main" val="4174948483"/>
                  </a:ext>
                </a:extLst>
              </a:tr>
              <a:tr h="2699426">
                <a:tc>
                  <a:txBody>
                    <a:bodyPr/>
                    <a:lstStyle/>
                    <a:p>
                      <a:pPr>
                        <a:buNone/>
                      </a:pPr>
                      <a:r>
                        <a:rPr lang="en-IN" sz="1600" b="1" dirty="0"/>
                        <a:t>Storage</a:t>
                      </a:r>
                      <a:endParaRPr lang="en-IN" sz="1600" dirty="0"/>
                    </a:p>
                  </a:txBody>
                  <a:tcPr marL="46291" marR="46291" marT="23145" marB="23145" anchor="ctr">
                    <a:lnL>
                      <a:noFill/>
                    </a:lnL>
                    <a:lnR>
                      <a:noFill/>
                    </a:lnR>
                    <a:lnT>
                      <a:noFill/>
                    </a:lnT>
                    <a:lnB>
                      <a:noFill/>
                    </a:lnB>
                    <a:noFill/>
                  </a:tcPr>
                </a:tc>
                <a:tc>
                  <a:txBody>
                    <a:bodyPr/>
                    <a:lstStyle/>
                    <a:p>
                      <a:pPr>
                        <a:buNone/>
                      </a:pPr>
                      <a:r>
                        <a:rPr lang="en-US" sz="1600" b="1" dirty="0"/>
                        <a:t>Central, persistent repository for all data, accessible by all compute nodes</a:t>
                      </a:r>
                      <a:r>
                        <a:rPr lang="en-US" sz="1600" dirty="0"/>
                        <a:t>. Data is automatically optimized, compressed, and stored in a </a:t>
                      </a:r>
                      <a:r>
                        <a:rPr lang="en-US" sz="1600" b="1" dirty="0">
                          <a:highlight>
                            <a:srgbClr val="FFFF00"/>
                          </a:highlight>
                        </a:rPr>
                        <a:t>columnar format divided into immutable micro-partitions (typically 50-500 MB each)</a:t>
                      </a:r>
                      <a:r>
                        <a:rPr lang="en-US" sz="1600" dirty="0"/>
                        <a:t> for efficient </a:t>
                      </a:r>
                      <a:r>
                        <a:rPr lang="en-US" sz="1600" b="1" dirty="0">
                          <a:solidFill>
                            <a:srgbClr val="FF0000"/>
                          </a:solidFill>
                        </a:rPr>
                        <a:t>querying and pruning</a:t>
                      </a:r>
                      <a:r>
                        <a:rPr lang="en-US" sz="1600" dirty="0"/>
                        <a:t>.</a:t>
                      </a:r>
                    </a:p>
                  </a:txBody>
                  <a:tcPr marL="46291" marR="46291" marT="23145" marB="23145" anchor="ctr">
                    <a:lnL>
                      <a:noFill/>
                    </a:lnL>
                    <a:lnR>
                      <a:noFill/>
                    </a:lnR>
                    <a:lnT>
                      <a:noFill/>
                    </a:lnT>
                    <a:lnB>
                      <a:noFill/>
                    </a:lnB>
                    <a:noFill/>
                  </a:tcPr>
                </a:tc>
                <a:tc>
                  <a:txBody>
                    <a:bodyPr/>
                    <a:lstStyle/>
                    <a:p>
                      <a:pPr>
                        <a:buNone/>
                      </a:pPr>
                      <a:r>
                        <a:rPr lang="en-IN" sz="1600" dirty="0"/>
                        <a:t>- </a:t>
                      </a:r>
                      <a:r>
                        <a:rPr lang="en-IN" sz="1600" b="1" dirty="0">
                          <a:solidFill>
                            <a:srgbClr val="FF0000"/>
                          </a:solidFill>
                        </a:rPr>
                        <a:t>Supports unlimited data size. </a:t>
                      </a:r>
                      <a:r>
                        <a:rPr lang="en-IN" sz="1600" dirty="0"/>
                        <a:t>- </a:t>
                      </a:r>
                      <a:r>
                        <a:rPr lang="en-IN" sz="1600" b="1" dirty="0">
                          <a:highlight>
                            <a:srgbClr val="FFFF00"/>
                          </a:highlight>
                        </a:rPr>
                        <a:t>Table types: </a:t>
                      </a:r>
                      <a:r>
                        <a:rPr lang="en-IN" sz="1600" b="1" dirty="0">
                          <a:solidFill>
                            <a:srgbClr val="FF0000"/>
                          </a:solidFill>
                        </a:rPr>
                        <a:t>Snowflake tables (for warehousing), Apache Iceberg tables (for data lakes/</a:t>
                      </a:r>
                      <a:r>
                        <a:rPr lang="en-IN" sz="1600" b="1" dirty="0" err="1">
                          <a:solidFill>
                            <a:srgbClr val="FF0000"/>
                          </a:solidFill>
                        </a:rPr>
                        <a:t>lakehouses</a:t>
                      </a:r>
                      <a:r>
                        <a:rPr lang="en-IN" sz="1600" b="1" dirty="0">
                          <a:solidFill>
                            <a:srgbClr val="FF0000"/>
                          </a:solidFill>
                        </a:rPr>
                        <a:t> with external storage like S3), Hybrid tables (for low-latency OLTP with row locking, indexes, and constraints). </a:t>
                      </a:r>
                      <a:r>
                        <a:rPr lang="en-IN" sz="1600" b="0" dirty="0">
                          <a:solidFill>
                            <a:srgbClr val="FF0000"/>
                          </a:solidFill>
                          <a:highlight>
                            <a:srgbClr val="FFFF00"/>
                          </a:highlight>
                        </a:rPr>
                        <a:t>-</a:t>
                      </a:r>
                      <a:r>
                        <a:rPr lang="en-IN" sz="1600" b="0" dirty="0">
                          <a:highlight>
                            <a:srgbClr val="FFFF00"/>
                          </a:highlight>
                        </a:rPr>
                        <a:t> </a:t>
                      </a:r>
                      <a:r>
                        <a:rPr lang="en-IN" sz="1600" b="1" dirty="0">
                          <a:highlight>
                            <a:srgbClr val="FFFF00"/>
                          </a:highlight>
                        </a:rPr>
                        <a:t>Handles structured, semi-structured, and unstructured data</a:t>
                      </a:r>
                      <a:r>
                        <a:rPr lang="en-IN" sz="1600" dirty="0"/>
                        <a:t>. - Features: Automatic clustering, metadata statistics for query optimization.</a:t>
                      </a:r>
                    </a:p>
                  </a:txBody>
                  <a:tcPr marL="46291" marR="46291" marT="23145" marB="23145" anchor="ctr">
                    <a:lnL>
                      <a:noFill/>
                    </a:lnL>
                    <a:lnR>
                      <a:noFill/>
                    </a:lnR>
                    <a:lnT>
                      <a:noFill/>
                    </a:lnT>
                    <a:lnB>
                      <a:noFill/>
                    </a:lnB>
                    <a:noFill/>
                  </a:tcPr>
                </a:tc>
                <a:extLst>
                  <a:ext uri="{0D108BD9-81ED-4DB2-BD59-A6C34878D82A}">
                    <a16:rowId xmlns:a16="http://schemas.microsoft.com/office/drawing/2014/main" val="3559539743"/>
                  </a:ext>
                </a:extLst>
              </a:tr>
              <a:tr h="2042808">
                <a:tc>
                  <a:txBody>
                    <a:bodyPr/>
                    <a:lstStyle/>
                    <a:p>
                      <a:pPr>
                        <a:buNone/>
                      </a:pPr>
                      <a:r>
                        <a:rPr lang="en-IN" sz="1600" b="1" dirty="0"/>
                        <a:t>Compute</a:t>
                      </a:r>
                      <a:endParaRPr lang="en-IN" sz="1600" dirty="0"/>
                    </a:p>
                  </a:txBody>
                  <a:tcPr marL="46291" marR="46291" marT="23145" marB="23145" anchor="ctr">
                    <a:lnL>
                      <a:noFill/>
                    </a:lnL>
                    <a:lnR>
                      <a:noFill/>
                    </a:lnR>
                    <a:lnT>
                      <a:noFill/>
                    </a:lnT>
                    <a:lnB>
                      <a:noFill/>
                    </a:lnB>
                    <a:noFill/>
                  </a:tcPr>
                </a:tc>
                <a:tc>
                  <a:txBody>
                    <a:bodyPr/>
                    <a:lstStyle/>
                    <a:p>
                      <a:pPr>
                        <a:buNone/>
                      </a:pPr>
                      <a:r>
                        <a:rPr lang="en-IN" sz="1600" b="1" dirty="0">
                          <a:highlight>
                            <a:srgbClr val="FFFF00"/>
                          </a:highlight>
                        </a:rPr>
                        <a:t>Independent virtual warehouses </a:t>
                      </a:r>
                      <a:r>
                        <a:rPr lang="en-IN" sz="1600" dirty="0"/>
                        <a:t>(</a:t>
                      </a:r>
                      <a:r>
                        <a:rPr lang="en-IN" sz="1600" b="1" dirty="0">
                          <a:highlight>
                            <a:srgbClr val="FFFF00"/>
                          </a:highlight>
                        </a:rPr>
                        <a:t>clusters of compute resources</a:t>
                      </a:r>
                      <a:r>
                        <a:rPr lang="en-IN" sz="1600" dirty="0"/>
                        <a:t>) that </a:t>
                      </a:r>
                      <a:r>
                        <a:rPr lang="en-IN" sz="1600" b="1" dirty="0">
                          <a:highlight>
                            <a:srgbClr val="FFFF00"/>
                          </a:highlight>
                        </a:rPr>
                        <a:t>execute SQL queries, </a:t>
                      </a:r>
                      <a:r>
                        <a:rPr lang="en-IN" sz="1600" dirty="0">
                          <a:solidFill>
                            <a:srgbClr val="FF0000"/>
                          </a:solidFill>
                        </a:rPr>
                        <a:t>Snowpark code </a:t>
                      </a:r>
                      <a:r>
                        <a:rPr lang="en-IN" sz="1600" dirty="0"/>
                        <a:t>(e.g., Python, Java), or </a:t>
                      </a:r>
                      <a:r>
                        <a:rPr lang="en-IN" sz="1600" b="1" dirty="0">
                          <a:highlight>
                            <a:srgbClr val="FFFF00"/>
                          </a:highlight>
                        </a:rPr>
                        <a:t>Spark jobs via Snowpark Connect.</a:t>
                      </a:r>
                      <a:r>
                        <a:rPr lang="en-IN" sz="1600" dirty="0"/>
                        <a:t> </a:t>
                      </a:r>
                      <a:r>
                        <a:rPr lang="en-IN" sz="1600" b="1" dirty="0">
                          <a:solidFill>
                            <a:srgbClr val="FF0000"/>
                          </a:solidFill>
                        </a:rPr>
                        <a:t>No resource sharing between warehouses ensures workload isolation.</a:t>
                      </a:r>
                    </a:p>
                  </a:txBody>
                  <a:tcPr marL="46291" marR="46291" marT="23145" marB="23145" anchor="ctr">
                    <a:lnL>
                      <a:noFill/>
                    </a:lnL>
                    <a:lnR>
                      <a:noFill/>
                    </a:lnR>
                    <a:lnT>
                      <a:noFill/>
                    </a:lnT>
                    <a:lnB>
                      <a:noFill/>
                    </a:lnB>
                    <a:noFill/>
                  </a:tcPr>
                </a:tc>
                <a:tc>
                  <a:txBody>
                    <a:bodyPr/>
                    <a:lstStyle/>
                    <a:p>
                      <a:pPr>
                        <a:buNone/>
                      </a:pPr>
                      <a:r>
                        <a:rPr lang="en-IN" sz="1600" dirty="0"/>
                        <a:t>- </a:t>
                      </a:r>
                      <a:r>
                        <a:rPr lang="en-IN" sz="1600" b="1" dirty="0">
                          <a:highlight>
                            <a:srgbClr val="FFFF00"/>
                          </a:highlight>
                        </a:rPr>
                        <a:t>Multi-cluster warehouses for dynamic scaling and concurrency</a:t>
                      </a:r>
                      <a:r>
                        <a:rPr lang="en-IN" sz="1600" dirty="0"/>
                        <a:t>. - </a:t>
                      </a:r>
                      <a:r>
                        <a:rPr lang="en-IN" sz="1600" b="1" dirty="0">
                          <a:solidFill>
                            <a:srgbClr val="FF0000"/>
                          </a:solidFill>
                        </a:rPr>
                        <a:t>Elastic: Resize or auto-scale in seconds; suspend when idle to save costs</a:t>
                      </a:r>
                      <a:r>
                        <a:rPr lang="en-IN" sz="1600" dirty="0"/>
                        <a:t>. - </a:t>
                      </a:r>
                      <a:r>
                        <a:rPr lang="en-IN" sz="1600" b="1" dirty="0">
                          <a:highlight>
                            <a:srgbClr val="FFFF00"/>
                          </a:highlight>
                        </a:rPr>
                        <a:t>MPP processing</a:t>
                      </a:r>
                      <a:r>
                        <a:rPr lang="en-IN" sz="1600" dirty="0"/>
                        <a:t>: Each node handles a data subset locally for speed. - Caching: Result sets, metadata, and local disk caches for sub-second queries.</a:t>
                      </a:r>
                    </a:p>
                  </a:txBody>
                  <a:tcPr marL="46291" marR="46291" marT="23145" marB="23145" anchor="ctr">
                    <a:lnL>
                      <a:noFill/>
                    </a:lnL>
                    <a:lnR>
                      <a:noFill/>
                    </a:lnR>
                    <a:lnT>
                      <a:noFill/>
                    </a:lnT>
                    <a:lnB>
                      <a:noFill/>
                    </a:lnB>
                    <a:noFill/>
                  </a:tcPr>
                </a:tc>
                <a:extLst>
                  <a:ext uri="{0D108BD9-81ED-4DB2-BD59-A6C34878D82A}">
                    <a16:rowId xmlns:a16="http://schemas.microsoft.com/office/drawing/2014/main" val="2338910860"/>
                  </a:ext>
                </a:extLst>
              </a:tr>
              <a:tr h="1823937">
                <a:tc>
                  <a:txBody>
                    <a:bodyPr/>
                    <a:lstStyle/>
                    <a:p>
                      <a:pPr>
                        <a:buNone/>
                      </a:pPr>
                      <a:r>
                        <a:rPr lang="en-IN" sz="1600" b="1"/>
                        <a:t>Cloud Services</a:t>
                      </a:r>
                      <a:endParaRPr lang="en-IN" sz="1600"/>
                    </a:p>
                  </a:txBody>
                  <a:tcPr marL="46291" marR="46291" marT="23145" marB="23145" anchor="ctr">
                    <a:lnL>
                      <a:noFill/>
                    </a:lnL>
                    <a:lnR>
                      <a:noFill/>
                    </a:lnR>
                    <a:lnT>
                      <a:noFill/>
                    </a:lnT>
                    <a:lnB>
                      <a:noFill/>
                    </a:lnB>
                    <a:noFill/>
                  </a:tcPr>
                </a:tc>
                <a:tc>
                  <a:txBody>
                    <a:bodyPr/>
                    <a:lstStyle/>
                    <a:p>
                      <a:pPr>
                        <a:buNone/>
                      </a:pPr>
                      <a:r>
                        <a:rPr lang="en-US" sz="1600" b="1" dirty="0">
                          <a:highlight>
                            <a:srgbClr val="FFFF00"/>
                          </a:highlight>
                        </a:rPr>
                        <a:t>Metadata management and orchestration layer </a:t>
                      </a:r>
                      <a:r>
                        <a:rPr lang="en-US" sz="1600" dirty="0"/>
                        <a:t>that handles non-data-processing tasks, running on separate cloud-provisioned instances.</a:t>
                      </a:r>
                    </a:p>
                  </a:txBody>
                  <a:tcPr marL="46291" marR="46291" marT="23145" marB="23145" anchor="ctr">
                    <a:lnL>
                      <a:noFill/>
                    </a:lnL>
                    <a:lnR>
                      <a:noFill/>
                    </a:lnR>
                    <a:lnT>
                      <a:noFill/>
                    </a:lnT>
                    <a:lnB>
                      <a:noFill/>
                    </a:lnB>
                    <a:noFill/>
                  </a:tcPr>
                </a:tc>
                <a:tc>
                  <a:txBody>
                    <a:bodyPr/>
                    <a:lstStyle/>
                    <a:p>
                      <a:pPr>
                        <a:buNone/>
                      </a:pPr>
                      <a:r>
                        <a:rPr lang="en-US" sz="1600" dirty="0"/>
                        <a:t>- </a:t>
                      </a:r>
                      <a:r>
                        <a:rPr lang="en-US" sz="1600" b="1" dirty="0">
                          <a:solidFill>
                            <a:srgbClr val="FF0000"/>
                          </a:solidFill>
                        </a:rPr>
                        <a:t>Authentication, authorization, and security (e.g., role-based access, encryption). </a:t>
                      </a:r>
                      <a:r>
                        <a:rPr lang="en-US" sz="1600" b="1" dirty="0">
                          <a:highlight>
                            <a:srgbClr val="FFFF00"/>
                          </a:highlight>
                        </a:rPr>
                        <a:t>- Query parsing, optimization, and coordination. - Logging, billing, and infrastructure management. </a:t>
                      </a:r>
                      <a:r>
                        <a:rPr lang="en-US" sz="1600" dirty="0"/>
                        <a:t>- Integrates with data sharing (e.g., secure views, Marketplace listings).</a:t>
                      </a:r>
                    </a:p>
                  </a:txBody>
                  <a:tcPr marL="46291" marR="46291" marT="23145" marB="23145" anchor="ctr">
                    <a:lnL>
                      <a:noFill/>
                    </a:lnL>
                    <a:lnR>
                      <a:noFill/>
                    </a:lnR>
                    <a:lnT>
                      <a:noFill/>
                    </a:lnT>
                    <a:lnB>
                      <a:noFill/>
                    </a:lnB>
                    <a:noFill/>
                  </a:tcPr>
                </a:tc>
                <a:extLst>
                  <a:ext uri="{0D108BD9-81ED-4DB2-BD59-A6C34878D82A}">
                    <a16:rowId xmlns:a16="http://schemas.microsoft.com/office/drawing/2014/main" val="3037390908"/>
                  </a:ext>
                </a:extLst>
              </a:tr>
            </a:tbl>
          </a:graphicData>
        </a:graphic>
      </p:graphicFrame>
    </p:spTree>
    <p:extLst>
      <p:ext uri="{BB962C8B-B14F-4D97-AF65-F5344CB8AC3E}">
        <p14:creationId xmlns:p14="http://schemas.microsoft.com/office/powerpoint/2010/main" val="12081848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AE643F-E8E6-BA42-10C4-83F02B5539E9}"/>
              </a:ext>
            </a:extLst>
          </p:cNvPr>
          <p:cNvSpPr>
            <a:spLocks noGrp="1"/>
          </p:cNvSpPr>
          <p:nvPr>
            <p:ph type="title"/>
          </p:nvPr>
        </p:nvSpPr>
        <p:spPr>
          <a:xfrm>
            <a:off x="0" y="18255"/>
            <a:ext cx="10515600" cy="781845"/>
          </a:xfrm>
        </p:spPr>
        <p:txBody>
          <a:bodyPr/>
          <a:lstStyle/>
          <a:p>
            <a:r>
              <a:rPr lang="en-IN" dirty="0"/>
              <a:t>Storage layer</a:t>
            </a:r>
          </a:p>
        </p:txBody>
      </p:sp>
      <p:sp>
        <p:nvSpPr>
          <p:cNvPr id="3" name="Content Placeholder 2">
            <a:extLst>
              <a:ext uri="{FF2B5EF4-FFF2-40B4-BE49-F238E27FC236}">
                <a16:creationId xmlns:a16="http://schemas.microsoft.com/office/drawing/2014/main" id="{0145D21C-650B-043B-2618-433ECF271FE7}"/>
              </a:ext>
            </a:extLst>
          </p:cNvPr>
          <p:cNvSpPr>
            <a:spLocks noGrp="1"/>
          </p:cNvSpPr>
          <p:nvPr>
            <p:ph idx="1"/>
          </p:nvPr>
        </p:nvSpPr>
        <p:spPr>
          <a:xfrm>
            <a:off x="90055" y="1617807"/>
            <a:ext cx="11765972" cy="4351338"/>
          </a:xfrm>
        </p:spPr>
        <p:txBody>
          <a:bodyPr>
            <a:normAutofit fontScale="92500"/>
          </a:bodyPr>
          <a:lstStyle/>
          <a:p>
            <a:r>
              <a:rPr lang="en-US" dirty="0"/>
              <a:t>Snowflake's storage layer is elastic, allowing organizations to scale their storage needs independent of compute resources.</a:t>
            </a:r>
          </a:p>
          <a:p>
            <a:r>
              <a:rPr lang="en-US" dirty="0"/>
              <a:t> It ensures to handle various data volumes without affecting performance.</a:t>
            </a:r>
          </a:p>
          <a:p>
            <a:r>
              <a:rPr lang="en-US" dirty="0"/>
              <a:t>Snowflake uses cloud based object storage to store data. This separation of storage and compute allows for cost-effective and scalable data storage.</a:t>
            </a:r>
          </a:p>
          <a:p>
            <a:r>
              <a:rPr lang="en-US" dirty="0"/>
              <a:t>Snowflake organizes data into micro partitions within the object storage, and these micro partitions are clustered based on metadata. This clustering enhances query performance by minimizing the amount of data that needs to be scanned.</a:t>
            </a:r>
          </a:p>
          <a:p>
            <a:r>
              <a:rPr lang="en-US" dirty="0"/>
              <a:t>Snowflake enables efficient data cloning through zero-copy cloning technology.</a:t>
            </a:r>
            <a:endParaRPr lang="en-IN" dirty="0"/>
          </a:p>
        </p:txBody>
      </p:sp>
    </p:spTree>
    <p:extLst>
      <p:ext uri="{BB962C8B-B14F-4D97-AF65-F5344CB8AC3E}">
        <p14:creationId xmlns:p14="http://schemas.microsoft.com/office/powerpoint/2010/main" val="22013461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724BA8-5E98-2835-1582-DE7A1048F836}"/>
              </a:ext>
            </a:extLst>
          </p:cNvPr>
          <p:cNvSpPr>
            <a:spLocks noGrp="1"/>
          </p:cNvSpPr>
          <p:nvPr>
            <p:ph type="title"/>
          </p:nvPr>
        </p:nvSpPr>
        <p:spPr>
          <a:xfrm>
            <a:off x="0" y="18255"/>
            <a:ext cx="10515600" cy="1325563"/>
          </a:xfrm>
        </p:spPr>
        <p:txBody>
          <a:bodyPr/>
          <a:lstStyle/>
          <a:p>
            <a:r>
              <a:rPr lang="en-IN" b="1" dirty="0"/>
              <a:t>Query Processing Layer</a:t>
            </a:r>
            <a:br>
              <a:rPr lang="en-IN" b="1" dirty="0"/>
            </a:br>
            <a:endParaRPr lang="en-IN" dirty="0"/>
          </a:p>
        </p:txBody>
      </p:sp>
      <p:sp>
        <p:nvSpPr>
          <p:cNvPr id="3" name="Content Placeholder 2">
            <a:extLst>
              <a:ext uri="{FF2B5EF4-FFF2-40B4-BE49-F238E27FC236}">
                <a16:creationId xmlns:a16="http://schemas.microsoft.com/office/drawing/2014/main" id="{388F5C8F-79DA-6FFD-1D35-F6A1243375FC}"/>
              </a:ext>
            </a:extLst>
          </p:cNvPr>
          <p:cNvSpPr>
            <a:spLocks noGrp="1"/>
          </p:cNvSpPr>
          <p:nvPr>
            <p:ph idx="1"/>
          </p:nvPr>
        </p:nvSpPr>
        <p:spPr>
          <a:xfrm>
            <a:off x="225135" y="1482725"/>
            <a:ext cx="11693237" cy="4351338"/>
          </a:xfrm>
        </p:spPr>
        <p:txBody>
          <a:bodyPr/>
          <a:lstStyle/>
          <a:p>
            <a:r>
              <a:rPr lang="en-US" dirty="0"/>
              <a:t>The SQL query execution is handled by Snowflake's Query Processing Layer, which </a:t>
            </a:r>
            <a:r>
              <a:rPr lang="en-US" b="1" dirty="0"/>
              <a:t>dynamically optimizes</a:t>
            </a:r>
            <a:r>
              <a:rPr lang="en-US" dirty="0"/>
              <a:t> and parallelizes queries over several compute clusters. </a:t>
            </a:r>
          </a:p>
          <a:p>
            <a:endParaRPr lang="en-US" dirty="0"/>
          </a:p>
          <a:p>
            <a:r>
              <a:rPr lang="en-IN" b="1" dirty="0"/>
              <a:t>Automatic Query Processing:</a:t>
            </a:r>
          </a:p>
          <a:p>
            <a:r>
              <a:rPr lang="en-IN" b="1" dirty="0"/>
              <a:t>Parallel Execution across Clusters:</a:t>
            </a:r>
          </a:p>
          <a:p>
            <a:r>
              <a:rPr lang="en-IN" b="1" dirty="0"/>
              <a:t>On Demand Resource Allocation</a:t>
            </a:r>
          </a:p>
          <a:p>
            <a:r>
              <a:rPr lang="en-IN" b="1" dirty="0"/>
              <a:t>Compute and Storage Separation</a:t>
            </a:r>
            <a:endParaRPr lang="en-IN" dirty="0"/>
          </a:p>
        </p:txBody>
      </p:sp>
    </p:spTree>
    <p:extLst>
      <p:ext uri="{BB962C8B-B14F-4D97-AF65-F5344CB8AC3E}">
        <p14:creationId xmlns:p14="http://schemas.microsoft.com/office/powerpoint/2010/main" val="23331956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084FAD-37AE-CADF-47ED-37CBAA608DD5}"/>
              </a:ext>
            </a:extLst>
          </p:cNvPr>
          <p:cNvSpPr>
            <a:spLocks noGrp="1"/>
          </p:cNvSpPr>
          <p:nvPr>
            <p:ph type="title"/>
          </p:nvPr>
        </p:nvSpPr>
        <p:spPr>
          <a:xfrm>
            <a:off x="0" y="18255"/>
            <a:ext cx="10515600" cy="1325563"/>
          </a:xfrm>
        </p:spPr>
        <p:txBody>
          <a:bodyPr/>
          <a:lstStyle/>
          <a:p>
            <a:r>
              <a:rPr lang="en-IN" b="1" dirty="0"/>
              <a:t>Cloud Services Layer</a:t>
            </a:r>
            <a:br>
              <a:rPr lang="en-IN" b="1" dirty="0"/>
            </a:br>
            <a:endParaRPr lang="en-IN" dirty="0"/>
          </a:p>
        </p:txBody>
      </p:sp>
      <p:sp>
        <p:nvSpPr>
          <p:cNvPr id="3" name="Content Placeholder 2">
            <a:extLst>
              <a:ext uri="{FF2B5EF4-FFF2-40B4-BE49-F238E27FC236}">
                <a16:creationId xmlns:a16="http://schemas.microsoft.com/office/drawing/2014/main" id="{F23BC370-0567-7DCA-5BFF-DEA7DD78026E}"/>
              </a:ext>
            </a:extLst>
          </p:cNvPr>
          <p:cNvSpPr>
            <a:spLocks noGrp="1"/>
          </p:cNvSpPr>
          <p:nvPr>
            <p:ph idx="1"/>
          </p:nvPr>
        </p:nvSpPr>
        <p:spPr>
          <a:xfrm>
            <a:off x="173182" y="1430771"/>
            <a:ext cx="12018818" cy="4351338"/>
          </a:xfrm>
        </p:spPr>
        <p:txBody>
          <a:bodyPr>
            <a:normAutofit fontScale="92500" lnSpcReduction="10000"/>
          </a:bodyPr>
          <a:lstStyle/>
          <a:p>
            <a:r>
              <a:rPr lang="en-US" dirty="0"/>
              <a:t>In Snowflake's architecture, the Cloud Services Layer serves as the control plane, managing information, security, and user access. </a:t>
            </a:r>
          </a:p>
          <a:p>
            <a:r>
              <a:rPr lang="en-US" dirty="0"/>
              <a:t>It serves as a </a:t>
            </a:r>
            <a:r>
              <a:rPr lang="en-US" b="1" dirty="0"/>
              <a:t>centralized platform</a:t>
            </a:r>
            <a:r>
              <a:rPr lang="en-US" dirty="0"/>
              <a:t> for administration, authentication, and activity coordination across the data warehouse.</a:t>
            </a:r>
          </a:p>
          <a:p>
            <a:endParaRPr lang="en-US" dirty="0"/>
          </a:p>
          <a:p>
            <a:r>
              <a:rPr lang="en-IN" b="1" dirty="0"/>
              <a:t>Metadata Management</a:t>
            </a:r>
          </a:p>
          <a:p>
            <a:r>
              <a:rPr lang="en-IN" b="1" dirty="0"/>
              <a:t>Authentication and Access Control</a:t>
            </a:r>
          </a:p>
          <a:p>
            <a:r>
              <a:rPr lang="en-IN" b="1" dirty="0"/>
              <a:t>Query Optimization</a:t>
            </a:r>
          </a:p>
          <a:p>
            <a:r>
              <a:rPr lang="en-IN" b="1" dirty="0"/>
              <a:t>Infrastructure Management</a:t>
            </a:r>
          </a:p>
          <a:p>
            <a:r>
              <a:rPr lang="en-IN" b="1" dirty="0"/>
              <a:t>Security</a:t>
            </a:r>
            <a:endParaRPr lang="en-IN" dirty="0"/>
          </a:p>
        </p:txBody>
      </p:sp>
    </p:spTree>
    <p:extLst>
      <p:ext uri="{BB962C8B-B14F-4D97-AF65-F5344CB8AC3E}">
        <p14:creationId xmlns:p14="http://schemas.microsoft.com/office/powerpoint/2010/main" val="6373648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084FAD-37AE-CADF-47ED-37CBAA608DD5}"/>
              </a:ext>
            </a:extLst>
          </p:cNvPr>
          <p:cNvSpPr>
            <a:spLocks noGrp="1"/>
          </p:cNvSpPr>
          <p:nvPr>
            <p:ph type="title"/>
          </p:nvPr>
        </p:nvSpPr>
        <p:spPr>
          <a:xfrm>
            <a:off x="0" y="18255"/>
            <a:ext cx="10515600" cy="1325563"/>
          </a:xfrm>
        </p:spPr>
        <p:txBody>
          <a:bodyPr/>
          <a:lstStyle/>
          <a:p>
            <a:r>
              <a:rPr lang="en-IN" b="1" dirty="0"/>
              <a:t>Cloud Services Layer</a:t>
            </a:r>
            <a:br>
              <a:rPr lang="en-IN" b="1" dirty="0"/>
            </a:br>
            <a:endParaRPr lang="en-IN" dirty="0"/>
          </a:p>
        </p:txBody>
      </p:sp>
      <p:sp>
        <p:nvSpPr>
          <p:cNvPr id="3" name="Content Placeholder 2">
            <a:extLst>
              <a:ext uri="{FF2B5EF4-FFF2-40B4-BE49-F238E27FC236}">
                <a16:creationId xmlns:a16="http://schemas.microsoft.com/office/drawing/2014/main" id="{F23BC370-0567-7DCA-5BFF-DEA7DD78026E}"/>
              </a:ext>
            </a:extLst>
          </p:cNvPr>
          <p:cNvSpPr>
            <a:spLocks noGrp="1"/>
          </p:cNvSpPr>
          <p:nvPr>
            <p:ph idx="1"/>
          </p:nvPr>
        </p:nvSpPr>
        <p:spPr>
          <a:xfrm>
            <a:off x="173182" y="1430771"/>
            <a:ext cx="12018818" cy="4351338"/>
          </a:xfrm>
        </p:spPr>
        <p:txBody>
          <a:bodyPr>
            <a:normAutofit fontScale="92500" lnSpcReduction="10000"/>
          </a:bodyPr>
          <a:lstStyle/>
          <a:p>
            <a:r>
              <a:rPr lang="en-US" dirty="0"/>
              <a:t>In Snowflake's architecture, the Cloud Services Layer serves as the control plane, managing information, security, and user access. </a:t>
            </a:r>
          </a:p>
          <a:p>
            <a:r>
              <a:rPr lang="en-US" dirty="0"/>
              <a:t>It serves as a </a:t>
            </a:r>
            <a:r>
              <a:rPr lang="en-US" b="1" dirty="0"/>
              <a:t>centralized platform</a:t>
            </a:r>
            <a:r>
              <a:rPr lang="en-US" dirty="0"/>
              <a:t> for administration, authentication, and activity coordination across the data warehouse.</a:t>
            </a:r>
          </a:p>
          <a:p>
            <a:endParaRPr lang="en-US" dirty="0"/>
          </a:p>
          <a:p>
            <a:r>
              <a:rPr lang="en-IN" b="1" dirty="0"/>
              <a:t>Metadata Management</a:t>
            </a:r>
          </a:p>
          <a:p>
            <a:r>
              <a:rPr lang="en-IN" b="1" dirty="0"/>
              <a:t>Authentication and Access Control</a:t>
            </a:r>
          </a:p>
          <a:p>
            <a:r>
              <a:rPr lang="en-IN" b="1" dirty="0"/>
              <a:t>Query Optimization</a:t>
            </a:r>
          </a:p>
          <a:p>
            <a:r>
              <a:rPr lang="en-IN" b="1" dirty="0"/>
              <a:t>Infrastructure Management</a:t>
            </a:r>
          </a:p>
          <a:p>
            <a:r>
              <a:rPr lang="en-IN" b="1" dirty="0"/>
              <a:t>Security</a:t>
            </a:r>
            <a:endParaRPr lang="en-IN" dirty="0"/>
          </a:p>
        </p:txBody>
      </p:sp>
    </p:spTree>
    <p:extLst>
      <p:ext uri="{BB962C8B-B14F-4D97-AF65-F5344CB8AC3E}">
        <p14:creationId xmlns:p14="http://schemas.microsoft.com/office/powerpoint/2010/main" val="5096324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27C68D-35AD-68B0-24FA-30001A4FA8E5}"/>
              </a:ext>
            </a:extLst>
          </p:cNvPr>
          <p:cNvSpPr>
            <a:spLocks noGrp="1"/>
          </p:cNvSpPr>
          <p:nvPr>
            <p:ph type="title"/>
          </p:nvPr>
        </p:nvSpPr>
        <p:spPr>
          <a:xfrm>
            <a:off x="3228109" y="2619952"/>
            <a:ext cx="10515600" cy="1325563"/>
          </a:xfrm>
        </p:spPr>
        <p:txBody>
          <a:bodyPr/>
          <a:lstStyle/>
          <a:p>
            <a:r>
              <a:rPr lang="en-IN" dirty="0"/>
              <a:t>Virtual Warehouses</a:t>
            </a:r>
          </a:p>
        </p:txBody>
      </p:sp>
    </p:spTree>
    <p:extLst>
      <p:ext uri="{BB962C8B-B14F-4D97-AF65-F5344CB8AC3E}">
        <p14:creationId xmlns:p14="http://schemas.microsoft.com/office/powerpoint/2010/main" val="4999708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074E2B-C2AC-04A0-AA5B-4A089BBF89CE}"/>
              </a:ext>
            </a:extLst>
          </p:cNvPr>
          <p:cNvSpPr>
            <a:spLocks noGrp="1"/>
          </p:cNvSpPr>
          <p:nvPr>
            <p:ph type="title"/>
          </p:nvPr>
        </p:nvSpPr>
        <p:spPr>
          <a:xfrm>
            <a:off x="0" y="18255"/>
            <a:ext cx="10515600" cy="1325563"/>
          </a:xfrm>
        </p:spPr>
        <p:txBody>
          <a:bodyPr/>
          <a:lstStyle/>
          <a:p>
            <a:r>
              <a:rPr lang="en-US" b="1" dirty="0"/>
              <a:t>What is a Snowflake Virtual Warehouse?</a:t>
            </a:r>
            <a:br>
              <a:rPr lang="en-US" dirty="0"/>
            </a:br>
            <a:endParaRPr lang="en-IN" dirty="0"/>
          </a:p>
        </p:txBody>
      </p:sp>
      <p:sp>
        <p:nvSpPr>
          <p:cNvPr id="3" name="Content Placeholder 2">
            <a:extLst>
              <a:ext uri="{FF2B5EF4-FFF2-40B4-BE49-F238E27FC236}">
                <a16:creationId xmlns:a16="http://schemas.microsoft.com/office/drawing/2014/main" id="{95DE5C65-F5CC-8468-6A29-60CDC3BCCCAC}"/>
              </a:ext>
            </a:extLst>
          </p:cNvPr>
          <p:cNvSpPr>
            <a:spLocks noGrp="1"/>
          </p:cNvSpPr>
          <p:nvPr>
            <p:ph idx="1"/>
          </p:nvPr>
        </p:nvSpPr>
        <p:spPr>
          <a:xfrm>
            <a:off x="110837" y="1586634"/>
            <a:ext cx="11921836" cy="4351338"/>
          </a:xfrm>
        </p:spPr>
        <p:txBody>
          <a:bodyPr/>
          <a:lstStyle/>
          <a:p>
            <a:r>
              <a:rPr lang="en-US" dirty="0"/>
              <a:t>A Virtual Warehouse is a </a:t>
            </a:r>
            <a:r>
              <a:rPr lang="en-US" b="1" dirty="0">
                <a:highlight>
                  <a:srgbClr val="FFFF00"/>
                </a:highlight>
              </a:rPr>
              <a:t>cluster of compute resources </a:t>
            </a:r>
            <a:r>
              <a:rPr lang="en-US" dirty="0"/>
              <a:t>in Snowflake. </a:t>
            </a:r>
          </a:p>
          <a:p>
            <a:r>
              <a:rPr lang="en-US" dirty="0"/>
              <a:t>A warehouse provides the </a:t>
            </a:r>
            <a:r>
              <a:rPr lang="en-US" b="1" dirty="0">
                <a:solidFill>
                  <a:srgbClr val="FF0000"/>
                </a:solidFill>
              </a:rPr>
              <a:t>required resources, such as CPU, memory, and temporary storage,</a:t>
            </a:r>
            <a:r>
              <a:rPr lang="en-US" dirty="0"/>
              <a:t> to perform various operations in Snowflake like executing SQL statements, performing data loading and unloading operations.</a:t>
            </a:r>
            <a:endParaRPr lang="en-IN" dirty="0"/>
          </a:p>
        </p:txBody>
      </p:sp>
    </p:spTree>
    <p:extLst>
      <p:ext uri="{BB962C8B-B14F-4D97-AF65-F5344CB8AC3E}">
        <p14:creationId xmlns:p14="http://schemas.microsoft.com/office/powerpoint/2010/main" val="14957524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154F09-EC7A-D9B3-1FA2-435EEE3F6F08}"/>
              </a:ext>
            </a:extLst>
          </p:cNvPr>
          <p:cNvSpPr>
            <a:spLocks noGrp="1"/>
          </p:cNvSpPr>
          <p:nvPr>
            <p:ph type="title"/>
          </p:nvPr>
        </p:nvSpPr>
        <p:spPr>
          <a:xfrm>
            <a:off x="0" y="349646"/>
            <a:ext cx="10515600" cy="662782"/>
          </a:xfrm>
        </p:spPr>
        <p:txBody>
          <a:bodyPr>
            <a:normAutofit fontScale="90000"/>
          </a:bodyPr>
          <a:lstStyle/>
          <a:p>
            <a:r>
              <a:rPr lang="en-US" b="1" dirty="0"/>
              <a:t>Steps to create a Snowflake Virtual Warehouse</a:t>
            </a:r>
            <a:br>
              <a:rPr lang="en-US" dirty="0"/>
            </a:br>
            <a:endParaRPr lang="en-IN" dirty="0"/>
          </a:p>
        </p:txBody>
      </p:sp>
      <p:sp>
        <p:nvSpPr>
          <p:cNvPr id="3" name="Content Placeholder 2">
            <a:extLst>
              <a:ext uri="{FF2B5EF4-FFF2-40B4-BE49-F238E27FC236}">
                <a16:creationId xmlns:a16="http://schemas.microsoft.com/office/drawing/2014/main" id="{961F3784-F19A-FF9D-C86A-31E44239C0C9}"/>
              </a:ext>
            </a:extLst>
          </p:cNvPr>
          <p:cNvSpPr>
            <a:spLocks noGrp="1"/>
          </p:cNvSpPr>
          <p:nvPr>
            <p:ph idx="1"/>
          </p:nvPr>
        </p:nvSpPr>
        <p:spPr>
          <a:xfrm>
            <a:off x="256309" y="1524289"/>
            <a:ext cx="11734799" cy="4351338"/>
          </a:xfrm>
        </p:spPr>
        <p:txBody>
          <a:bodyPr>
            <a:normAutofit fontScale="85000" lnSpcReduction="20000"/>
          </a:bodyPr>
          <a:lstStyle/>
          <a:p>
            <a:r>
              <a:rPr lang="en-US" dirty="0"/>
              <a:t>can create a Snowflake virtual warehouse through the web interface or using SQL.</a:t>
            </a:r>
          </a:p>
          <a:p>
            <a:endParaRPr lang="en-US" dirty="0"/>
          </a:p>
          <a:p>
            <a:r>
              <a:rPr lang="en-US" dirty="0"/>
              <a:t>Navigate to </a:t>
            </a:r>
            <a:r>
              <a:rPr lang="en-US" b="1" dirty="0"/>
              <a:t>Warehouses</a:t>
            </a:r>
            <a:r>
              <a:rPr lang="en-US" dirty="0"/>
              <a:t> and click </a:t>
            </a:r>
            <a:r>
              <a:rPr lang="en-US" b="1" dirty="0"/>
              <a:t>Create</a:t>
            </a:r>
            <a:r>
              <a:rPr lang="en-US" dirty="0"/>
              <a:t>.</a:t>
            </a:r>
          </a:p>
          <a:p>
            <a:r>
              <a:rPr lang="en-US" dirty="0"/>
              <a:t>Enter a </a:t>
            </a:r>
            <a:r>
              <a:rPr lang="en-US" b="1" dirty="0"/>
              <a:t>Name</a:t>
            </a:r>
            <a:r>
              <a:rPr lang="en-US" dirty="0"/>
              <a:t> and select the </a:t>
            </a:r>
            <a:r>
              <a:rPr lang="en-US" b="1" dirty="0"/>
              <a:t>Size </a:t>
            </a:r>
            <a:r>
              <a:rPr lang="en-US" dirty="0"/>
              <a:t>of the Warehouse.</a:t>
            </a:r>
          </a:p>
          <a:p>
            <a:r>
              <a:rPr lang="en-US" dirty="0"/>
              <a:t>Select the number of </a:t>
            </a:r>
            <a:r>
              <a:rPr lang="en-US" b="1" dirty="0"/>
              <a:t>Minimum </a:t>
            </a:r>
            <a:r>
              <a:rPr lang="en-US" dirty="0"/>
              <a:t>and</a:t>
            </a:r>
            <a:r>
              <a:rPr lang="en-US" b="1" dirty="0"/>
              <a:t> Maximum clusters</a:t>
            </a:r>
            <a:r>
              <a:rPr lang="en-US" dirty="0"/>
              <a:t> to create a Multi-cluster warehouse. Default values are 1 and 2 respectively.</a:t>
            </a:r>
          </a:p>
          <a:p>
            <a:r>
              <a:rPr lang="en-US" dirty="0"/>
              <a:t>Select the </a:t>
            </a:r>
            <a:r>
              <a:rPr lang="en-US" b="1" dirty="0"/>
              <a:t>Scaling policy</a:t>
            </a:r>
            <a:r>
              <a:rPr lang="en-US" dirty="0"/>
              <a:t>. Default is </a:t>
            </a:r>
            <a:r>
              <a:rPr lang="en-US" b="1" dirty="0"/>
              <a:t>Standard</a:t>
            </a:r>
            <a:r>
              <a:rPr lang="en-US" dirty="0"/>
              <a:t>.</a:t>
            </a:r>
          </a:p>
          <a:p>
            <a:r>
              <a:rPr lang="en-US" dirty="0"/>
              <a:t>Select the number of idle minutes after which the warehouse should automatically suspend using </a:t>
            </a:r>
            <a:r>
              <a:rPr lang="en-US" b="1" dirty="0"/>
              <a:t>Auto Suspend</a:t>
            </a:r>
            <a:r>
              <a:rPr lang="en-US" dirty="0"/>
              <a:t>. Default is 10 minutes.</a:t>
            </a:r>
          </a:p>
          <a:p>
            <a:r>
              <a:rPr lang="en-US" dirty="0"/>
              <a:t>The </a:t>
            </a:r>
            <a:r>
              <a:rPr lang="en-US" b="1" dirty="0"/>
              <a:t>Auto Resume</a:t>
            </a:r>
            <a:r>
              <a:rPr lang="en-US" dirty="0"/>
              <a:t> feature by default checked-in. Unselect if you don’t want the warehouse to resume automatically when a query is submitted.</a:t>
            </a:r>
          </a:p>
          <a:p>
            <a:r>
              <a:rPr lang="en-US" dirty="0"/>
              <a:t>Optionally fill in the comments section and click </a:t>
            </a:r>
            <a:r>
              <a:rPr lang="en-US" b="1" dirty="0"/>
              <a:t>Finish</a:t>
            </a:r>
            <a:r>
              <a:rPr lang="en-US" dirty="0"/>
              <a:t>.</a:t>
            </a:r>
          </a:p>
          <a:p>
            <a:endParaRPr lang="en-IN" dirty="0"/>
          </a:p>
        </p:txBody>
      </p:sp>
    </p:spTree>
    <p:extLst>
      <p:ext uri="{BB962C8B-B14F-4D97-AF65-F5344CB8AC3E}">
        <p14:creationId xmlns:p14="http://schemas.microsoft.com/office/powerpoint/2010/main" val="40962965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Create Virtual Warehouse from Web UI">
            <a:extLst>
              <a:ext uri="{FF2B5EF4-FFF2-40B4-BE49-F238E27FC236}">
                <a16:creationId xmlns:a16="http://schemas.microsoft.com/office/drawing/2014/main" id="{C9242B3F-D202-8234-52D0-D5B4AA4E2A5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1"/>
            <a:ext cx="5611091" cy="1974273"/>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Specifying various settings while creating Virtual Warehouse from Web UI">
            <a:extLst>
              <a:ext uri="{FF2B5EF4-FFF2-40B4-BE49-F238E27FC236}">
                <a16:creationId xmlns:a16="http://schemas.microsoft.com/office/drawing/2014/main" id="{F96E12A5-8CE4-B209-3020-3438170E802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11090" y="161926"/>
            <a:ext cx="6580910" cy="66960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609976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CCC5E11-ED1A-CAA4-4588-301092ADB710}"/>
              </a:ext>
            </a:extLst>
          </p:cNvPr>
          <p:cNvSpPr>
            <a:spLocks noGrp="1"/>
          </p:cNvSpPr>
          <p:nvPr>
            <p:ph idx="1"/>
          </p:nvPr>
        </p:nvSpPr>
        <p:spPr>
          <a:xfrm>
            <a:off x="162790" y="724189"/>
            <a:ext cx="11797145" cy="4351338"/>
          </a:xfrm>
        </p:spPr>
        <p:txBody>
          <a:bodyPr/>
          <a:lstStyle/>
          <a:p>
            <a:r>
              <a:rPr lang="en-US" dirty="0"/>
              <a:t>Click on </a:t>
            </a:r>
            <a:r>
              <a:rPr lang="en-US" b="1" dirty="0"/>
              <a:t>Show SQL</a:t>
            </a:r>
            <a:r>
              <a:rPr lang="en-US" dirty="0"/>
              <a:t> option to view the SQL statement to create the virtual warehouse</a:t>
            </a:r>
            <a:endParaRPr lang="en-IN" dirty="0"/>
          </a:p>
        </p:txBody>
      </p:sp>
      <p:pic>
        <p:nvPicPr>
          <p:cNvPr id="3074" name="Picture 2" descr="SQL to create a Virtual Warehouse">
            <a:extLst>
              <a:ext uri="{FF2B5EF4-FFF2-40B4-BE49-F238E27FC236}">
                <a16:creationId xmlns:a16="http://schemas.microsoft.com/office/drawing/2014/main" id="{7E201E70-CB9B-A333-032F-39E361CAE0E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9935" y="1928308"/>
            <a:ext cx="10733809" cy="33087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695918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6255C4-336E-C955-CB82-135BC9765A92}"/>
              </a:ext>
            </a:extLst>
          </p:cNvPr>
          <p:cNvSpPr>
            <a:spLocks noGrp="1"/>
          </p:cNvSpPr>
          <p:nvPr>
            <p:ph type="title"/>
          </p:nvPr>
        </p:nvSpPr>
        <p:spPr>
          <a:xfrm>
            <a:off x="0" y="18256"/>
            <a:ext cx="10515600" cy="1020836"/>
          </a:xfrm>
        </p:spPr>
        <p:txBody>
          <a:bodyPr>
            <a:normAutofit fontScale="90000"/>
          </a:bodyPr>
          <a:lstStyle/>
          <a:p>
            <a:r>
              <a:rPr lang="en-US" b="1" dirty="0"/>
              <a:t>Virtual Warehouse Size and Credit Usage/Billing</a:t>
            </a:r>
            <a:br>
              <a:rPr lang="en-US" dirty="0"/>
            </a:br>
            <a:endParaRPr lang="en-IN" dirty="0"/>
          </a:p>
        </p:txBody>
      </p:sp>
      <p:sp>
        <p:nvSpPr>
          <p:cNvPr id="3" name="Content Placeholder 2">
            <a:extLst>
              <a:ext uri="{FF2B5EF4-FFF2-40B4-BE49-F238E27FC236}">
                <a16:creationId xmlns:a16="http://schemas.microsoft.com/office/drawing/2014/main" id="{B6F844A2-B18D-0F82-4A4A-BD201B00802D}"/>
              </a:ext>
            </a:extLst>
          </p:cNvPr>
          <p:cNvSpPr>
            <a:spLocks noGrp="1"/>
          </p:cNvSpPr>
          <p:nvPr>
            <p:ph idx="1"/>
          </p:nvPr>
        </p:nvSpPr>
        <p:spPr>
          <a:xfrm>
            <a:off x="214744" y="1253331"/>
            <a:ext cx="11651673" cy="4351338"/>
          </a:xfrm>
        </p:spPr>
        <p:txBody>
          <a:bodyPr/>
          <a:lstStyle/>
          <a:p>
            <a:r>
              <a:rPr lang="en-US" i="1" dirty="0"/>
              <a:t>Snowflake utilizes per-second billing( </a:t>
            </a:r>
            <a:r>
              <a:rPr lang="en-US" b="1" i="1" dirty="0"/>
              <a:t>charges for first 60 seconds minimum</a:t>
            </a:r>
            <a:r>
              <a:rPr lang="en-US" i="1" dirty="0"/>
              <a:t> each time the warehouse starts) so warehouses are billed only for the credits they actually consume.</a:t>
            </a:r>
            <a:endParaRPr lang="en-IN" dirty="0"/>
          </a:p>
        </p:txBody>
      </p:sp>
      <p:graphicFrame>
        <p:nvGraphicFramePr>
          <p:cNvPr id="4" name="Table 3">
            <a:extLst>
              <a:ext uri="{FF2B5EF4-FFF2-40B4-BE49-F238E27FC236}">
                <a16:creationId xmlns:a16="http://schemas.microsoft.com/office/drawing/2014/main" id="{DD41E693-D798-5DC1-1538-EFB8D2C53536}"/>
              </a:ext>
            </a:extLst>
          </p:cNvPr>
          <p:cNvGraphicFramePr>
            <a:graphicFrameLocks noGrp="1"/>
          </p:cNvGraphicFramePr>
          <p:nvPr/>
        </p:nvGraphicFramePr>
        <p:xfrm>
          <a:off x="571500" y="2953891"/>
          <a:ext cx="10931239" cy="2677492"/>
        </p:xfrm>
        <a:graphic>
          <a:graphicData uri="http://schemas.openxmlformats.org/drawingml/2006/table">
            <a:tbl>
              <a:tblPr/>
              <a:tblGrid>
                <a:gridCol w="993749">
                  <a:extLst>
                    <a:ext uri="{9D8B030D-6E8A-4147-A177-3AD203B41FA5}">
                      <a16:colId xmlns:a16="http://schemas.microsoft.com/office/drawing/2014/main" val="2340063838"/>
                    </a:ext>
                  </a:extLst>
                </a:gridCol>
                <a:gridCol w="993749">
                  <a:extLst>
                    <a:ext uri="{9D8B030D-6E8A-4147-A177-3AD203B41FA5}">
                      <a16:colId xmlns:a16="http://schemas.microsoft.com/office/drawing/2014/main" val="1024627786"/>
                    </a:ext>
                  </a:extLst>
                </a:gridCol>
                <a:gridCol w="993749">
                  <a:extLst>
                    <a:ext uri="{9D8B030D-6E8A-4147-A177-3AD203B41FA5}">
                      <a16:colId xmlns:a16="http://schemas.microsoft.com/office/drawing/2014/main" val="3433219445"/>
                    </a:ext>
                  </a:extLst>
                </a:gridCol>
                <a:gridCol w="993749">
                  <a:extLst>
                    <a:ext uri="{9D8B030D-6E8A-4147-A177-3AD203B41FA5}">
                      <a16:colId xmlns:a16="http://schemas.microsoft.com/office/drawing/2014/main" val="449837517"/>
                    </a:ext>
                  </a:extLst>
                </a:gridCol>
                <a:gridCol w="993749">
                  <a:extLst>
                    <a:ext uri="{9D8B030D-6E8A-4147-A177-3AD203B41FA5}">
                      <a16:colId xmlns:a16="http://schemas.microsoft.com/office/drawing/2014/main" val="3185426563"/>
                    </a:ext>
                  </a:extLst>
                </a:gridCol>
                <a:gridCol w="993749">
                  <a:extLst>
                    <a:ext uri="{9D8B030D-6E8A-4147-A177-3AD203B41FA5}">
                      <a16:colId xmlns:a16="http://schemas.microsoft.com/office/drawing/2014/main" val="125720255"/>
                    </a:ext>
                  </a:extLst>
                </a:gridCol>
                <a:gridCol w="993749">
                  <a:extLst>
                    <a:ext uri="{9D8B030D-6E8A-4147-A177-3AD203B41FA5}">
                      <a16:colId xmlns:a16="http://schemas.microsoft.com/office/drawing/2014/main" val="4196656544"/>
                    </a:ext>
                  </a:extLst>
                </a:gridCol>
                <a:gridCol w="993749">
                  <a:extLst>
                    <a:ext uri="{9D8B030D-6E8A-4147-A177-3AD203B41FA5}">
                      <a16:colId xmlns:a16="http://schemas.microsoft.com/office/drawing/2014/main" val="1259408250"/>
                    </a:ext>
                  </a:extLst>
                </a:gridCol>
                <a:gridCol w="993749">
                  <a:extLst>
                    <a:ext uri="{9D8B030D-6E8A-4147-A177-3AD203B41FA5}">
                      <a16:colId xmlns:a16="http://schemas.microsoft.com/office/drawing/2014/main" val="3082610510"/>
                    </a:ext>
                  </a:extLst>
                </a:gridCol>
                <a:gridCol w="993749">
                  <a:extLst>
                    <a:ext uri="{9D8B030D-6E8A-4147-A177-3AD203B41FA5}">
                      <a16:colId xmlns:a16="http://schemas.microsoft.com/office/drawing/2014/main" val="531594039"/>
                    </a:ext>
                  </a:extLst>
                </a:gridCol>
                <a:gridCol w="993749">
                  <a:extLst>
                    <a:ext uri="{9D8B030D-6E8A-4147-A177-3AD203B41FA5}">
                      <a16:colId xmlns:a16="http://schemas.microsoft.com/office/drawing/2014/main" val="1940293646"/>
                    </a:ext>
                  </a:extLst>
                </a:gridCol>
              </a:tblGrid>
              <a:tr h="811361">
                <a:tc>
                  <a:txBody>
                    <a:bodyPr/>
                    <a:lstStyle/>
                    <a:p>
                      <a:pPr>
                        <a:buNone/>
                      </a:pPr>
                      <a:r>
                        <a:rPr lang="en-IN" b="1">
                          <a:effectLst/>
                        </a:rPr>
                        <a:t>Warehouse Size</a:t>
                      </a:r>
                      <a:endParaRPr lang="en-IN">
                        <a:effectLst/>
                      </a:endParaRPr>
                    </a:p>
                  </a:txBody>
                  <a:tcPr anchor="ctr">
                    <a:lnL w="7620" cap="flat" cmpd="sng" algn="ctr">
                      <a:solidFill>
                        <a:srgbClr val="700171"/>
                      </a:solidFill>
                      <a:prstDash val="solid"/>
                      <a:round/>
                      <a:headEnd type="none" w="med" len="med"/>
                      <a:tailEnd type="none" w="med" len="med"/>
                    </a:lnL>
                    <a:lnR w="7620" cap="flat" cmpd="sng" algn="ctr">
                      <a:solidFill>
                        <a:srgbClr val="700171"/>
                      </a:solidFill>
                      <a:prstDash val="solid"/>
                      <a:round/>
                      <a:headEnd type="none" w="med" len="med"/>
                      <a:tailEnd type="none" w="med" len="med"/>
                    </a:lnR>
                    <a:lnT w="7620" cap="flat" cmpd="sng" algn="ctr">
                      <a:solidFill>
                        <a:srgbClr val="700171"/>
                      </a:solidFill>
                      <a:prstDash val="solid"/>
                      <a:round/>
                      <a:headEnd type="none" w="med" len="med"/>
                      <a:tailEnd type="none" w="med" len="med"/>
                    </a:lnT>
                    <a:lnB w="7620" cap="flat" cmpd="sng" algn="ctr">
                      <a:solidFill>
                        <a:srgbClr val="700171"/>
                      </a:solidFill>
                      <a:prstDash val="solid"/>
                      <a:round/>
                      <a:headEnd type="none" w="med" len="med"/>
                      <a:tailEnd type="none" w="med" len="med"/>
                    </a:lnB>
                    <a:solidFill>
                      <a:srgbClr val="FFFFFF"/>
                    </a:solidFill>
                  </a:tcPr>
                </a:tc>
                <a:tc>
                  <a:txBody>
                    <a:bodyPr/>
                    <a:lstStyle/>
                    <a:p>
                      <a:pPr>
                        <a:buNone/>
                      </a:pPr>
                      <a:r>
                        <a:rPr lang="en-IN" b="1">
                          <a:effectLst/>
                        </a:rPr>
                        <a:t>X-Small</a:t>
                      </a:r>
                      <a:endParaRPr lang="en-IN">
                        <a:effectLst/>
                      </a:endParaRPr>
                    </a:p>
                  </a:txBody>
                  <a:tcPr anchor="ctr">
                    <a:lnL w="7620" cap="flat" cmpd="sng" algn="ctr">
                      <a:solidFill>
                        <a:srgbClr val="700171"/>
                      </a:solidFill>
                      <a:prstDash val="solid"/>
                      <a:round/>
                      <a:headEnd type="none" w="med" len="med"/>
                      <a:tailEnd type="none" w="med" len="med"/>
                    </a:lnL>
                    <a:lnR w="7620" cap="flat" cmpd="sng" algn="ctr">
                      <a:solidFill>
                        <a:srgbClr val="700171"/>
                      </a:solidFill>
                      <a:prstDash val="solid"/>
                      <a:round/>
                      <a:headEnd type="none" w="med" len="med"/>
                      <a:tailEnd type="none" w="med" len="med"/>
                    </a:lnR>
                    <a:lnT w="7620" cap="flat" cmpd="sng" algn="ctr">
                      <a:solidFill>
                        <a:srgbClr val="700171"/>
                      </a:solidFill>
                      <a:prstDash val="solid"/>
                      <a:round/>
                      <a:headEnd type="none" w="med" len="med"/>
                      <a:tailEnd type="none" w="med" len="med"/>
                    </a:lnT>
                    <a:lnB w="7620" cap="flat" cmpd="sng" algn="ctr">
                      <a:solidFill>
                        <a:srgbClr val="700171"/>
                      </a:solidFill>
                      <a:prstDash val="solid"/>
                      <a:round/>
                      <a:headEnd type="none" w="med" len="med"/>
                      <a:tailEnd type="none" w="med" len="med"/>
                    </a:lnB>
                    <a:solidFill>
                      <a:srgbClr val="FFFFFF"/>
                    </a:solidFill>
                  </a:tcPr>
                </a:tc>
                <a:tc>
                  <a:txBody>
                    <a:bodyPr/>
                    <a:lstStyle/>
                    <a:p>
                      <a:pPr>
                        <a:buNone/>
                      </a:pPr>
                      <a:r>
                        <a:rPr lang="en-IN" b="1">
                          <a:effectLst/>
                        </a:rPr>
                        <a:t>Small</a:t>
                      </a:r>
                      <a:endParaRPr lang="en-IN">
                        <a:effectLst/>
                      </a:endParaRPr>
                    </a:p>
                  </a:txBody>
                  <a:tcPr anchor="ctr">
                    <a:lnL w="7620" cap="flat" cmpd="sng" algn="ctr">
                      <a:solidFill>
                        <a:srgbClr val="700171"/>
                      </a:solidFill>
                      <a:prstDash val="solid"/>
                      <a:round/>
                      <a:headEnd type="none" w="med" len="med"/>
                      <a:tailEnd type="none" w="med" len="med"/>
                    </a:lnL>
                    <a:lnR w="7620" cap="flat" cmpd="sng" algn="ctr">
                      <a:solidFill>
                        <a:srgbClr val="700171"/>
                      </a:solidFill>
                      <a:prstDash val="solid"/>
                      <a:round/>
                      <a:headEnd type="none" w="med" len="med"/>
                      <a:tailEnd type="none" w="med" len="med"/>
                    </a:lnR>
                    <a:lnT w="7620" cap="flat" cmpd="sng" algn="ctr">
                      <a:solidFill>
                        <a:srgbClr val="700171"/>
                      </a:solidFill>
                      <a:prstDash val="solid"/>
                      <a:round/>
                      <a:headEnd type="none" w="med" len="med"/>
                      <a:tailEnd type="none" w="med" len="med"/>
                    </a:lnT>
                    <a:lnB w="7620" cap="flat" cmpd="sng" algn="ctr">
                      <a:solidFill>
                        <a:srgbClr val="700171"/>
                      </a:solidFill>
                      <a:prstDash val="solid"/>
                      <a:round/>
                      <a:headEnd type="none" w="med" len="med"/>
                      <a:tailEnd type="none" w="med" len="med"/>
                    </a:lnB>
                    <a:solidFill>
                      <a:srgbClr val="FFFFFF"/>
                    </a:solidFill>
                  </a:tcPr>
                </a:tc>
                <a:tc>
                  <a:txBody>
                    <a:bodyPr/>
                    <a:lstStyle/>
                    <a:p>
                      <a:pPr>
                        <a:buNone/>
                      </a:pPr>
                      <a:r>
                        <a:rPr lang="en-IN" b="1">
                          <a:effectLst/>
                        </a:rPr>
                        <a:t>Medium</a:t>
                      </a:r>
                      <a:endParaRPr lang="en-IN">
                        <a:effectLst/>
                      </a:endParaRPr>
                    </a:p>
                  </a:txBody>
                  <a:tcPr anchor="ctr">
                    <a:lnL w="7620" cap="flat" cmpd="sng" algn="ctr">
                      <a:solidFill>
                        <a:srgbClr val="700171"/>
                      </a:solidFill>
                      <a:prstDash val="solid"/>
                      <a:round/>
                      <a:headEnd type="none" w="med" len="med"/>
                      <a:tailEnd type="none" w="med" len="med"/>
                    </a:lnL>
                    <a:lnR w="7620" cap="flat" cmpd="sng" algn="ctr">
                      <a:solidFill>
                        <a:srgbClr val="700171"/>
                      </a:solidFill>
                      <a:prstDash val="solid"/>
                      <a:round/>
                      <a:headEnd type="none" w="med" len="med"/>
                      <a:tailEnd type="none" w="med" len="med"/>
                    </a:lnR>
                    <a:lnT w="7620" cap="flat" cmpd="sng" algn="ctr">
                      <a:solidFill>
                        <a:srgbClr val="700171"/>
                      </a:solidFill>
                      <a:prstDash val="solid"/>
                      <a:round/>
                      <a:headEnd type="none" w="med" len="med"/>
                      <a:tailEnd type="none" w="med" len="med"/>
                    </a:lnT>
                    <a:lnB w="7620" cap="flat" cmpd="sng" algn="ctr">
                      <a:solidFill>
                        <a:srgbClr val="700171"/>
                      </a:solidFill>
                      <a:prstDash val="solid"/>
                      <a:round/>
                      <a:headEnd type="none" w="med" len="med"/>
                      <a:tailEnd type="none" w="med" len="med"/>
                    </a:lnB>
                    <a:solidFill>
                      <a:srgbClr val="FFFFFF"/>
                    </a:solidFill>
                  </a:tcPr>
                </a:tc>
                <a:tc>
                  <a:txBody>
                    <a:bodyPr/>
                    <a:lstStyle/>
                    <a:p>
                      <a:pPr>
                        <a:buNone/>
                      </a:pPr>
                      <a:r>
                        <a:rPr lang="en-IN" b="1">
                          <a:effectLst/>
                        </a:rPr>
                        <a:t>Large</a:t>
                      </a:r>
                      <a:endParaRPr lang="en-IN">
                        <a:effectLst/>
                      </a:endParaRPr>
                    </a:p>
                  </a:txBody>
                  <a:tcPr anchor="ctr">
                    <a:lnL w="7620" cap="flat" cmpd="sng" algn="ctr">
                      <a:solidFill>
                        <a:srgbClr val="700171"/>
                      </a:solidFill>
                      <a:prstDash val="solid"/>
                      <a:round/>
                      <a:headEnd type="none" w="med" len="med"/>
                      <a:tailEnd type="none" w="med" len="med"/>
                    </a:lnL>
                    <a:lnR w="7620" cap="flat" cmpd="sng" algn="ctr">
                      <a:solidFill>
                        <a:srgbClr val="700171"/>
                      </a:solidFill>
                      <a:prstDash val="solid"/>
                      <a:round/>
                      <a:headEnd type="none" w="med" len="med"/>
                      <a:tailEnd type="none" w="med" len="med"/>
                    </a:lnR>
                    <a:lnT w="7620" cap="flat" cmpd="sng" algn="ctr">
                      <a:solidFill>
                        <a:srgbClr val="700171"/>
                      </a:solidFill>
                      <a:prstDash val="solid"/>
                      <a:round/>
                      <a:headEnd type="none" w="med" len="med"/>
                      <a:tailEnd type="none" w="med" len="med"/>
                    </a:lnT>
                    <a:lnB w="7620" cap="flat" cmpd="sng" algn="ctr">
                      <a:solidFill>
                        <a:srgbClr val="700171"/>
                      </a:solidFill>
                      <a:prstDash val="solid"/>
                      <a:round/>
                      <a:headEnd type="none" w="med" len="med"/>
                      <a:tailEnd type="none" w="med" len="med"/>
                    </a:lnB>
                    <a:solidFill>
                      <a:srgbClr val="FFFFFF"/>
                    </a:solidFill>
                  </a:tcPr>
                </a:tc>
                <a:tc>
                  <a:txBody>
                    <a:bodyPr/>
                    <a:lstStyle/>
                    <a:p>
                      <a:pPr>
                        <a:buNone/>
                      </a:pPr>
                      <a:r>
                        <a:rPr lang="en-IN" b="1" dirty="0">
                          <a:effectLst/>
                        </a:rPr>
                        <a:t>X-Large</a:t>
                      </a:r>
                      <a:endParaRPr lang="en-IN" dirty="0">
                        <a:effectLst/>
                      </a:endParaRPr>
                    </a:p>
                  </a:txBody>
                  <a:tcPr anchor="ctr">
                    <a:lnL w="7620" cap="flat" cmpd="sng" algn="ctr">
                      <a:solidFill>
                        <a:srgbClr val="700171"/>
                      </a:solidFill>
                      <a:prstDash val="solid"/>
                      <a:round/>
                      <a:headEnd type="none" w="med" len="med"/>
                      <a:tailEnd type="none" w="med" len="med"/>
                    </a:lnL>
                    <a:lnR w="7620" cap="flat" cmpd="sng" algn="ctr">
                      <a:solidFill>
                        <a:srgbClr val="700171"/>
                      </a:solidFill>
                      <a:prstDash val="solid"/>
                      <a:round/>
                      <a:headEnd type="none" w="med" len="med"/>
                      <a:tailEnd type="none" w="med" len="med"/>
                    </a:lnR>
                    <a:lnT w="7620" cap="flat" cmpd="sng" algn="ctr">
                      <a:solidFill>
                        <a:srgbClr val="700171"/>
                      </a:solidFill>
                      <a:prstDash val="solid"/>
                      <a:round/>
                      <a:headEnd type="none" w="med" len="med"/>
                      <a:tailEnd type="none" w="med" len="med"/>
                    </a:lnT>
                    <a:lnB w="7620" cap="flat" cmpd="sng" algn="ctr">
                      <a:solidFill>
                        <a:srgbClr val="700171"/>
                      </a:solidFill>
                      <a:prstDash val="solid"/>
                      <a:round/>
                      <a:headEnd type="none" w="med" len="med"/>
                      <a:tailEnd type="none" w="med" len="med"/>
                    </a:lnB>
                    <a:solidFill>
                      <a:srgbClr val="FFFFFF"/>
                    </a:solidFill>
                  </a:tcPr>
                </a:tc>
                <a:tc>
                  <a:txBody>
                    <a:bodyPr/>
                    <a:lstStyle/>
                    <a:p>
                      <a:pPr>
                        <a:buNone/>
                      </a:pPr>
                      <a:r>
                        <a:rPr lang="en-IN" b="1">
                          <a:effectLst/>
                        </a:rPr>
                        <a:t>2X-Large</a:t>
                      </a:r>
                      <a:endParaRPr lang="en-IN">
                        <a:effectLst/>
                      </a:endParaRPr>
                    </a:p>
                  </a:txBody>
                  <a:tcPr anchor="ctr">
                    <a:lnL w="7620" cap="flat" cmpd="sng" algn="ctr">
                      <a:solidFill>
                        <a:srgbClr val="700171"/>
                      </a:solidFill>
                      <a:prstDash val="solid"/>
                      <a:round/>
                      <a:headEnd type="none" w="med" len="med"/>
                      <a:tailEnd type="none" w="med" len="med"/>
                    </a:lnL>
                    <a:lnR w="7620" cap="flat" cmpd="sng" algn="ctr">
                      <a:solidFill>
                        <a:srgbClr val="700171"/>
                      </a:solidFill>
                      <a:prstDash val="solid"/>
                      <a:round/>
                      <a:headEnd type="none" w="med" len="med"/>
                      <a:tailEnd type="none" w="med" len="med"/>
                    </a:lnR>
                    <a:lnT w="7620" cap="flat" cmpd="sng" algn="ctr">
                      <a:solidFill>
                        <a:srgbClr val="700171"/>
                      </a:solidFill>
                      <a:prstDash val="solid"/>
                      <a:round/>
                      <a:headEnd type="none" w="med" len="med"/>
                      <a:tailEnd type="none" w="med" len="med"/>
                    </a:lnT>
                    <a:lnB w="7620" cap="flat" cmpd="sng" algn="ctr">
                      <a:solidFill>
                        <a:srgbClr val="700171"/>
                      </a:solidFill>
                      <a:prstDash val="solid"/>
                      <a:round/>
                      <a:headEnd type="none" w="med" len="med"/>
                      <a:tailEnd type="none" w="med" len="med"/>
                    </a:lnB>
                    <a:solidFill>
                      <a:srgbClr val="FFFFFF"/>
                    </a:solidFill>
                  </a:tcPr>
                </a:tc>
                <a:tc>
                  <a:txBody>
                    <a:bodyPr/>
                    <a:lstStyle/>
                    <a:p>
                      <a:pPr>
                        <a:buNone/>
                      </a:pPr>
                      <a:r>
                        <a:rPr lang="en-IN" b="1">
                          <a:effectLst/>
                        </a:rPr>
                        <a:t>3X-Large</a:t>
                      </a:r>
                      <a:endParaRPr lang="en-IN">
                        <a:effectLst/>
                      </a:endParaRPr>
                    </a:p>
                  </a:txBody>
                  <a:tcPr anchor="ctr">
                    <a:lnL w="7620" cap="flat" cmpd="sng" algn="ctr">
                      <a:solidFill>
                        <a:srgbClr val="700171"/>
                      </a:solidFill>
                      <a:prstDash val="solid"/>
                      <a:round/>
                      <a:headEnd type="none" w="med" len="med"/>
                      <a:tailEnd type="none" w="med" len="med"/>
                    </a:lnL>
                    <a:lnR w="7620" cap="flat" cmpd="sng" algn="ctr">
                      <a:solidFill>
                        <a:srgbClr val="700171"/>
                      </a:solidFill>
                      <a:prstDash val="solid"/>
                      <a:round/>
                      <a:headEnd type="none" w="med" len="med"/>
                      <a:tailEnd type="none" w="med" len="med"/>
                    </a:lnR>
                    <a:lnT w="7620" cap="flat" cmpd="sng" algn="ctr">
                      <a:solidFill>
                        <a:srgbClr val="700171"/>
                      </a:solidFill>
                      <a:prstDash val="solid"/>
                      <a:round/>
                      <a:headEnd type="none" w="med" len="med"/>
                      <a:tailEnd type="none" w="med" len="med"/>
                    </a:lnT>
                    <a:lnB w="7620" cap="flat" cmpd="sng" algn="ctr">
                      <a:solidFill>
                        <a:srgbClr val="700171"/>
                      </a:solidFill>
                      <a:prstDash val="solid"/>
                      <a:round/>
                      <a:headEnd type="none" w="med" len="med"/>
                      <a:tailEnd type="none" w="med" len="med"/>
                    </a:lnB>
                    <a:solidFill>
                      <a:srgbClr val="FFFFFF"/>
                    </a:solidFill>
                  </a:tcPr>
                </a:tc>
                <a:tc>
                  <a:txBody>
                    <a:bodyPr/>
                    <a:lstStyle/>
                    <a:p>
                      <a:pPr>
                        <a:buNone/>
                      </a:pPr>
                      <a:r>
                        <a:rPr lang="en-IN" b="1">
                          <a:effectLst/>
                        </a:rPr>
                        <a:t>4X-Large</a:t>
                      </a:r>
                      <a:endParaRPr lang="en-IN">
                        <a:effectLst/>
                      </a:endParaRPr>
                    </a:p>
                  </a:txBody>
                  <a:tcPr anchor="ctr">
                    <a:lnL w="7620" cap="flat" cmpd="sng" algn="ctr">
                      <a:solidFill>
                        <a:srgbClr val="700171"/>
                      </a:solidFill>
                      <a:prstDash val="solid"/>
                      <a:round/>
                      <a:headEnd type="none" w="med" len="med"/>
                      <a:tailEnd type="none" w="med" len="med"/>
                    </a:lnL>
                    <a:lnR w="7620" cap="flat" cmpd="sng" algn="ctr">
                      <a:solidFill>
                        <a:srgbClr val="700171"/>
                      </a:solidFill>
                      <a:prstDash val="solid"/>
                      <a:round/>
                      <a:headEnd type="none" w="med" len="med"/>
                      <a:tailEnd type="none" w="med" len="med"/>
                    </a:lnR>
                    <a:lnT w="7620" cap="flat" cmpd="sng" algn="ctr">
                      <a:solidFill>
                        <a:srgbClr val="700171"/>
                      </a:solidFill>
                      <a:prstDash val="solid"/>
                      <a:round/>
                      <a:headEnd type="none" w="med" len="med"/>
                      <a:tailEnd type="none" w="med" len="med"/>
                    </a:lnT>
                    <a:lnB w="7620" cap="flat" cmpd="sng" algn="ctr">
                      <a:solidFill>
                        <a:srgbClr val="700171"/>
                      </a:solidFill>
                      <a:prstDash val="solid"/>
                      <a:round/>
                      <a:headEnd type="none" w="med" len="med"/>
                      <a:tailEnd type="none" w="med" len="med"/>
                    </a:lnB>
                    <a:solidFill>
                      <a:srgbClr val="FFFFFF"/>
                    </a:solidFill>
                  </a:tcPr>
                </a:tc>
                <a:tc>
                  <a:txBody>
                    <a:bodyPr/>
                    <a:lstStyle/>
                    <a:p>
                      <a:pPr>
                        <a:buNone/>
                      </a:pPr>
                      <a:r>
                        <a:rPr lang="en-IN" b="1">
                          <a:effectLst/>
                        </a:rPr>
                        <a:t>5X-Large</a:t>
                      </a:r>
                      <a:endParaRPr lang="en-IN">
                        <a:effectLst/>
                      </a:endParaRPr>
                    </a:p>
                  </a:txBody>
                  <a:tcPr anchor="ctr">
                    <a:lnL w="7620" cap="flat" cmpd="sng" algn="ctr">
                      <a:solidFill>
                        <a:srgbClr val="700171"/>
                      </a:solidFill>
                      <a:prstDash val="solid"/>
                      <a:round/>
                      <a:headEnd type="none" w="med" len="med"/>
                      <a:tailEnd type="none" w="med" len="med"/>
                    </a:lnL>
                    <a:lnR w="7620" cap="flat" cmpd="sng" algn="ctr">
                      <a:solidFill>
                        <a:srgbClr val="700171"/>
                      </a:solidFill>
                      <a:prstDash val="solid"/>
                      <a:round/>
                      <a:headEnd type="none" w="med" len="med"/>
                      <a:tailEnd type="none" w="med" len="med"/>
                    </a:lnR>
                    <a:lnT w="7620" cap="flat" cmpd="sng" algn="ctr">
                      <a:solidFill>
                        <a:srgbClr val="700171"/>
                      </a:solidFill>
                      <a:prstDash val="solid"/>
                      <a:round/>
                      <a:headEnd type="none" w="med" len="med"/>
                      <a:tailEnd type="none" w="med" len="med"/>
                    </a:lnT>
                    <a:lnB w="7620" cap="flat" cmpd="sng" algn="ctr">
                      <a:solidFill>
                        <a:srgbClr val="700171"/>
                      </a:solidFill>
                      <a:prstDash val="solid"/>
                      <a:round/>
                      <a:headEnd type="none" w="med" len="med"/>
                      <a:tailEnd type="none" w="med" len="med"/>
                    </a:lnB>
                    <a:solidFill>
                      <a:srgbClr val="FFFFFF"/>
                    </a:solidFill>
                  </a:tcPr>
                </a:tc>
                <a:tc>
                  <a:txBody>
                    <a:bodyPr/>
                    <a:lstStyle/>
                    <a:p>
                      <a:pPr>
                        <a:buNone/>
                      </a:pPr>
                      <a:r>
                        <a:rPr lang="en-IN" b="1">
                          <a:effectLst/>
                        </a:rPr>
                        <a:t>6X-Large</a:t>
                      </a:r>
                      <a:endParaRPr lang="en-IN">
                        <a:effectLst/>
                      </a:endParaRPr>
                    </a:p>
                  </a:txBody>
                  <a:tcPr anchor="ctr">
                    <a:lnL w="7620" cap="flat" cmpd="sng" algn="ctr">
                      <a:solidFill>
                        <a:srgbClr val="700171"/>
                      </a:solidFill>
                      <a:prstDash val="solid"/>
                      <a:round/>
                      <a:headEnd type="none" w="med" len="med"/>
                      <a:tailEnd type="none" w="med" len="med"/>
                    </a:lnL>
                    <a:lnR w="7620" cap="flat" cmpd="sng" algn="ctr">
                      <a:solidFill>
                        <a:srgbClr val="700171"/>
                      </a:solidFill>
                      <a:prstDash val="solid"/>
                      <a:round/>
                      <a:headEnd type="none" w="med" len="med"/>
                      <a:tailEnd type="none" w="med" len="med"/>
                    </a:lnR>
                    <a:lnT w="7620" cap="flat" cmpd="sng" algn="ctr">
                      <a:solidFill>
                        <a:srgbClr val="700171"/>
                      </a:solidFill>
                      <a:prstDash val="solid"/>
                      <a:round/>
                      <a:headEnd type="none" w="med" len="med"/>
                      <a:tailEnd type="none" w="med" len="med"/>
                    </a:lnT>
                    <a:lnB w="7620" cap="flat" cmpd="sng" algn="ctr">
                      <a:solidFill>
                        <a:srgbClr val="700171"/>
                      </a:solidFill>
                      <a:prstDash val="solid"/>
                      <a:round/>
                      <a:headEnd type="none" w="med" len="med"/>
                      <a:tailEnd type="none" w="med" len="med"/>
                    </a:lnB>
                    <a:solidFill>
                      <a:srgbClr val="FFFFFF"/>
                    </a:solidFill>
                  </a:tcPr>
                </a:tc>
                <a:extLst>
                  <a:ext uri="{0D108BD9-81ED-4DB2-BD59-A6C34878D82A}">
                    <a16:rowId xmlns:a16="http://schemas.microsoft.com/office/drawing/2014/main" val="1872895602"/>
                  </a:ext>
                </a:extLst>
              </a:tr>
              <a:tr h="811361">
                <a:tc>
                  <a:txBody>
                    <a:bodyPr/>
                    <a:lstStyle/>
                    <a:p>
                      <a:pPr>
                        <a:buNone/>
                      </a:pPr>
                      <a:r>
                        <a:rPr lang="en-IN" b="1">
                          <a:effectLst/>
                        </a:rPr>
                        <a:t>Credits/Hour</a:t>
                      </a:r>
                      <a:endParaRPr lang="en-IN">
                        <a:effectLst/>
                      </a:endParaRPr>
                    </a:p>
                  </a:txBody>
                  <a:tcPr anchor="ctr">
                    <a:lnL w="7620" cap="flat" cmpd="sng" algn="ctr">
                      <a:solidFill>
                        <a:srgbClr val="700171"/>
                      </a:solidFill>
                      <a:prstDash val="solid"/>
                      <a:round/>
                      <a:headEnd type="none" w="med" len="med"/>
                      <a:tailEnd type="none" w="med" len="med"/>
                    </a:lnL>
                    <a:lnR w="7620" cap="flat" cmpd="sng" algn="ctr">
                      <a:solidFill>
                        <a:srgbClr val="700171"/>
                      </a:solidFill>
                      <a:prstDash val="solid"/>
                      <a:round/>
                      <a:headEnd type="none" w="med" len="med"/>
                      <a:tailEnd type="none" w="med" len="med"/>
                    </a:lnR>
                    <a:lnT w="7620" cap="flat" cmpd="sng" algn="ctr">
                      <a:solidFill>
                        <a:srgbClr val="700171"/>
                      </a:solidFill>
                      <a:prstDash val="solid"/>
                      <a:round/>
                      <a:headEnd type="none" w="med" len="med"/>
                      <a:tailEnd type="none" w="med" len="med"/>
                    </a:lnT>
                    <a:lnB w="7620" cap="flat" cmpd="sng" algn="ctr">
                      <a:solidFill>
                        <a:srgbClr val="700171"/>
                      </a:solidFill>
                      <a:prstDash val="solid"/>
                      <a:round/>
                      <a:headEnd type="none" w="med" len="med"/>
                      <a:tailEnd type="none" w="med" len="med"/>
                    </a:lnB>
                    <a:solidFill>
                      <a:srgbClr val="FFFFFF"/>
                    </a:solidFill>
                  </a:tcPr>
                </a:tc>
                <a:tc>
                  <a:txBody>
                    <a:bodyPr/>
                    <a:lstStyle/>
                    <a:p>
                      <a:pPr>
                        <a:buNone/>
                      </a:pPr>
                      <a:r>
                        <a:rPr lang="en-IN">
                          <a:effectLst/>
                        </a:rPr>
                        <a:t>1</a:t>
                      </a:r>
                    </a:p>
                  </a:txBody>
                  <a:tcPr anchor="ctr">
                    <a:lnL w="7620" cap="flat" cmpd="sng" algn="ctr">
                      <a:solidFill>
                        <a:srgbClr val="700171"/>
                      </a:solidFill>
                      <a:prstDash val="solid"/>
                      <a:round/>
                      <a:headEnd type="none" w="med" len="med"/>
                      <a:tailEnd type="none" w="med" len="med"/>
                    </a:lnL>
                    <a:lnR w="7620" cap="flat" cmpd="sng" algn="ctr">
                      <a:solidFill>
                        <a:srgbClr val="700171"/>
                      </a:solidFill>
                      <a:prstDash val="solid"/>
                      <a:round/>
                      <a:headEnd type="none" w="med" len="med"/>
                      <a:tailEnd type="none" w="med" len="med"/>
                    </a:lnR>
                    <a:lnT w="7620" cap="flat" cmpd="sng" algn="ctr">
                      <a:solidFill>
                        <a:srgbClr val="700171"/>
                      </a:solidFill>
                      <a:prstDash val="solid"/>
                      <a:round/>
                      <a:headEnd type="none" w="med" len="med"/>
                      <a:tailEnd type="none" w="med" len="med"/>
                    </a:lnT>
                    <a:lnB w="7620" cap="flat" cmpd="sng" algn="ctr">
                      <a:solidFill>
                        <a:srgbClr val="700171"/>
                      </a:solidFill>
                      <a:prstDash val="solid"/>
                      <a:round/>
                      <a:headEnd type="none" w="med" len="med"/>
                      <a:tailEnd type="none" w="med" len="med"/>
                    </a:lnB>
                    <a:solidFill>
                      <a:srgbClr val="FFFFFF"/>
                    </a:solidFill>
                  </a:tcPr>
                </a:tc>
                <a:tc>
                  <a:txBody>
                    <a:bodyPr/>
                    <a:lstStyle/>
                    <a:p>
                      <a:pPr>
                        <a:buNone/>
                      </a:pPr>
                      <a:r>
                        <a:rPr lang="en-IN">
                          <a:effectLst/>
                        </a:rPr>
                        <a:t>2</a:t>
                      </a:r>
                    </a:p>
                  </a:txBody>
                  <a:tcPr anchor="ctr">
                    <a:lnL w="7620" cap="flat" cmpd="sng" algn="ctr">
                      <a:solidFill>
                        <a:srgbClr val="700171"/>
                      </a:solidFill>
                      <a:prstDash val="solid"/>
                      <a:round/>
                      <a:headEnd type="none" w="med" len="med"/>
                      <a:tailEnd type="none" w="med" len="med"/>
                    </a:lnL>
                    <a:lnR w="7620" cap="flat" cmpd="sng" algn="ctr">
                      <a:solidFill>
                        <a:srgbClr val="700171"/>
                      </a:solidFill>
                      <a:prstDash val="solid"/>
                      <a:round/>
                      <a:headEnd type="none" w="med" len="med"/>
                      <a:tailEnd type="none" w="med" len="med"/>
                    </a:lnR>
                    <a:lnT w="7620" cap="flat" cmpd="sng" algn="ctr">
                      <a:solidFill>
                        <a:srgbClr val="700171"/>
                      </a:solidFill>
                      <a:prstDash val="solid"/>
                      <a:round/>
                      <a:headEnd type="none" w="med" len="med"/>
                      <a:tailEnd type="none" w="med" len="med"/>
                    </a:lnT>
                    <a:lnB w="7620" cap="flat" cmpd="sng" algn="ctr">
                      <a:solidFill>
                        <a:srgbClr val="700171"/>
                      </a:solidFill>
                      <a:prstDash val="solid"/>
                      <a:round/>
                      <a:headEnd type="none" w="med" len="med"/>
                      <a:tailEnd type="none" w="med" len="med"/>
                    </a:lnB>
                    <a:solidFill>
                      <a:srgbClr val="FFFFFF"/>
                    </a:solidFill>
                  </a:tcPr>
                </a:tc>
                <a:tc>
                  <a:txBody>
                    <a:bodyPr/>
                    <a:lstStyle/>
                    <a:p>
                      <a:pPr>
                        <a:buNone/>
                      </a:pPr>
                      <a:r>
                        <a:rPr lang="en-IN">
                          <a:effectLst/>
                        </a:rPr>
                        <a:t>4</a:t>
                      </a:r>
                    </a:p>
                  </a:txBody>
                  <a:tcPr anchor="ctr">
                    <a:lnL w="7620" cap="flat" cmpd="sng" algn="ctr">
                      <a:solidFill>
                        <a:srgbClr val="700171"/>
                      </a:solidFill>
                      <a:prstDash val="solid"/>
                      <a:round/>
                      <a:headEnd type="none" w="med" len="med"/>
                      <a:tailEnd type="none" w="med" len="med"/>
                    </a:lnL>
                    <a:lnR w="7620" cap="flat" cmpd="sng" algn="ctr">
                      <a:solidFill>
                        <a:srgbClr val="700171"/>
                      </a:solidFill>
                      <a:prstDash val="solid"/>
                      <a:round/>
                      <a:headEnd type="none" w="med" len="med"/>
                      <a:tailEnd type="none" w="med" len="med"/>
                    </a:lnR>
                    <a:lnT w="7620" cap="flat" cmpd="sng" algn="ctr">
                      <a:solidFill>
                        <a:srgbClr val="700171"/>
                      </a:solidFill>
                      <a:prstDash val="solid"/>
                      <a:round/>
                      <a:headEnd type="none" w="med" len="med"/>
                      <a:tailEnd type="none" w="med" len="med"/>
                    </a:lnT>
                    <a:lnB w="7620" cap="flat" cmpd="sng" algn="ctr">
                      <a:solidFill>
                        <a:srgbClr val="700171"/>
                      </a:solidFill>
                      <a:prstDash val="solid"/>
                      <a:round/>
                      <a:headEnd type="none" w="med" len="med"/>
                      <a:tailEnd type="none" w="med" len="med"/>
                    </a:lnB>
                    <a:solidFill>
                      <a:srgbClr val="FFFFFF"/>
                    </a:solidFill>
                  </a:tcPr>
                </a:tc>
                <a:tc>
                  <a:txBody>
                    <a:bodyPr/>
                    <a:lstStyle/>
                    <a:p>
                      <a:pPr>
                        <a:buNone/>
                      </a:pPr>
                      <a:r>
                        <a:rPr lang="en-IN">
                          <a:effectLst/>
                        </a:rPr>
                        <a:t>8</a:t>
                      </a:r>
                    </a:p>
                  </a:txBody>
                  <a:tcPr anchor="ctr">
                    <a:lnL w="7620" cap="flat" cmpd="sng" algn="ctr">
                      <a:solidFill>
                        <a:srgbClr val="700171"/>
                      </a:solidFill>
                      <a:prstDash val="solid"/>
                      <a:round/>
                      <a:headEnd type="none" w="med" len="med"/>
                      <a:tailEnd type="none" w="med" len="med"/>
                    </a:lnL>
                    <a:lnR w="7620" cap="flat" cmpd="sng" algn="ctr">
                      <a:solidFill>
                        <a:srgbClr val="700171"/>
                      </a:solidFill>
                      <a:prstDash val="solid"/>
                      <a:round/>
                      <a:headEnd type="none" w="med" len="med"/>
                      <a:tailEnd type="none" w="med" len="med"/>
                    </a:lnR>
                    <a:lnT w="7620" cap="flat" cmpd="sng" algn="ctr">
                      <a:solidFill>
                        <a:srgbClr val="700171"/>
                      </a:solidFill>
                      <a:prstDash val="solid"/>
                      <a:round/>
                      <a:headEnd type="none" w="med" len="med"/>
                      <a:tailEnd type="none" w="med" len="med"/>
                    </a:lnT>
                    <a:lnB w="7620" cap="flat" cmpd="sng" algn="ctr">
                      <a:solidFill>
                        <a:srgbClr val="700171"/>
                      </a:solidFill>
                      <a:prstDash val="solid"/>
                      <a:round/>
                      <a:headEnd type="none" w="med" len="med"/>
                      <a:tailEnd type="none" w="med" len="med"/>
                    </a:lnB>
                    <a:solidFill>
                      <a:srgbClr val="FFFFFF"/>
                    </a:solidFill>
                  </a:tcPr>
                </a:tc>
                <a:tc>
                  <a:txBody>
                    <a:bodyPr/>
                    <a:lstStyle/>
                    <a:p>
                      <a:pPr>
                        <a:buNone/>
                      </a:pPr>
                      <a:r>
                        <a:rPr lang="en-IN" dirty="0">
                          <a:effectLst/>
                        </a:rPr>
                        <a:t>16</a:t>
                      </a:r>
                    </a:p>
                  </a:txBody>
                  <a:tcPr anchor="ctr">
                    <a:lnL w="7620" cap="flat" cmpd="sng" algn="ctr">
                      <a:solidFill>
                        <a:srgbClr val="700171"/>
                      </a:solidFill>
                      <a:prstDash val="solid"/>
                      <a:round/>
                      <a:headEnd type="none" w="med" len="med"/>
                      <a:tailEnd type="none" w="med" len="med"/>
                    </a:lnL>
                    <a:lnR w="7620" cap="flat" cmpd="sng" algn="ctr">
                      <a:solidFill>
                        <a:srgbClr val="700171"/>
                      </a:solidFill>
                      <a:prstDash val="solid"/>
                      <a:round/>
                      <a:headEnd type="none" w="med" len="med"/>
                      <a:tailEnd type="none" w="med" len="med"/>
                    </a:lnR>
                    <a:lnT w="7620" cap="flat" cmpd="sng" algn="ctr">
                      <a:solidFill>
                        <a:srgbClr val="700171"/>
                      </a:solidFill>
                      <a:prstDash val="solid"/>
                      <a:round/>
                      <a:headEnd type="none" w="med" len="med"/>
                      <a:tailEnd type="none" w="med" len="med"/>
                    </a:lnT>
                    <a:lnB w="7620" cap="flat" cmpd="sng" algn="ctr">
                      <a:solidFill>
                        <a:srgbClr val="700171"/>
                      </a:solidFill>
                      <a:prstDash val="solid"/>
                      <a:round/>
                      <a:headEnd type="none" w="med" len="med"/>
                      <a:tailEnd type="none" w="med" len="med"/>
                    </a:lnB>
                    <a:solidFill>
                      <a:srgbClr val="FFFFFF"/>
                    </a:solidFill>
                  </a:tcPr>
                </a:tc>
                <a:tc>
                  <a:txBody>
                    <a:bodyPr/>
                    <a:lstStyle/>
                    <a:p>
                      <a:pPr>
                        <a:buNone/>
                      </a:pPr>
                      <a:r>
                        <a:rPr lang="en-IN">
                          <a:effectLst/>
                        </a:rPr>
                        <a:t>32</a:t>
                      </a:r>
                    </a:p>
                  </a:txBody>
                  <a:tcPr anchor="ctr">
                    <a:lnL w="7620" cap="flat" cmpd="sng" algn="ctr">
                      <a:solidFill>
                        <a:srgbClr val="700171"/>
                      </a:solidFill>
                      <a:prstDash val="solid"/>
                      <a:round/>
                      <a:headEnd type="none" w="med" len="med"/>
                      <a:tailEnd type="none" w="med" len="med"/>
                    </a:lnL>
                    <a:lnR w="7620" cap="flat" cmpd="sng" algn="ctr">
                      <a:solidFill>
                        <a:srgbClr val="700171"/>
                      </a:solidFill>
                      <a:prstDash val="solid"/>
                      <a:round/>
                      <a:headEnd type="none" w="med" len="med"/>
                      <a:tailEnd type="none" w="med" len="med"/>
                    </a:lnR>
                    <a:lnT w="7620" cap="flat" cmpd="sng" algn="ctr">
                      <a:solidFill>
                        <a:srgbClr val="700171"/>
                      </a:solidFill>
                      <a:prstDash val="solid"/>
                      <a:round/>
                      <a:headEnd type="none" w="med" len="med"/>
                      <a:tailEnd type="none" w="med" len="med"/>
                    </a:lnT>
                    <a:lnB w="7620" cap="flat" cmpd="sng" algn="ctr">
                      <a:solidFill>
                        <a:srgbClr val="700171"/>
                      </a:solidFill>
                      <a:prstDash val="solid"/>
                      <a:round/>
                      <a:headEnd type="none" w="med" len="med"/>
                      <a:tailEnd type="none" w="med" len="med"/>
                    </a:lnB>
                    <a:solidFill>
                      <a:srgbClr val="FFFFFF"/>
                    </a:solidFill>
                  </a:tcPr>
                </a:tc>
                <a:tc>
                  <a:txBody>
                    <a:bodyPr/>
                    <a:lstStyle/>
                    <a:p>
                      <a:pPr>
                        <a:buNone/>
                      </a:pPr>
                      <a:r>
                        <a:rPr lang="en-IN">
                          <a:effectLst/>
                        </a:rPr>
                        <a:t>64</a:t>
                      </a:r>
                    </a:p>
                  </a:txBody>
                  <a:tcPr anchor="ctr">
                    <a:lnL w="7620" cap="flat" cmpd="sng" algn="ctr">
                      <a:solidFill>
                        <a:srgbClr val="700171"/>
                      </a:solidFill>
                      <a:prstDash val="solid"/>
                      <a:round/>
                      <a:headEnd type="none" w="med" len="med"/>
                      <a:tailEnd type="none" w="med" len="med"/>
                    </a:lnL>
                    <a:lnR w="7620" cap="flat" cmpd="sng" algn="ctr">
                      <a:solidFill>
                        <a:srgbClr val="700171"/>
                      </a:solidFill>
                      <a:prstDash val="solid"/>
                      <a:round/>
                      <a:headEnd type="none" w="med" len="med"/>
                      <a:tailEnd type="none" w="med" len="med"/>
                    </a:lnR>
                    <a:lnT w="7620" cap="flat" cmpd="sng" algn="ctr">
                      <a:solidFill>
                        <a:srgbClr val="700171"/>
                      </a:solidFill>
                      <a:prstDash val="solid"/>
                      <a:round/>
                      <a:headEnd type="none" w="med" len="med"/>
                      <a:tailEnd type="none" w="med" len="med"/>
                    </a:lnT>
                    <a:lnB w="7620" cap="flat" cmpd="sng" algn="ctr">
                      <a:solidFill>
                        <a:srgbClr val="700171"/>
                      </a:solidFill>
                      <a:prstDash val="solid"/>
                      <a:round/>
                      <a:headEnd type="none" w="med" len="med"/>
                      <a:tailEnd type="none" w="med" len="med"/>
                    </a:lnB>
                    <a:solidFill>
                      <a:srgbClr val="FFFFFF"/>
                    </a:solidFill>
                  </a:tcPr>
                </a:tc>
                <a:tc>
                  <a:txBody>
                    <a:bodyPr/>
                    <a:lstStyle/>
                    <a:p>
                      <a:pPr>
                        <a:buNone/>
                      </a:pPr>
                      <a:r>
                        <a:rPr lang="en-IN">
                          <a:effectLst/>
                        </a:rPr>
                        <a:t>128</a:t>
                      </a:r>
                    </a:p>
                  </a:txBody>
                  <a:tcPr anchor="ctr">
                    <a:lnL w="7620" cap="flat" cmpd="sng" algn="ctr">
                      <a:solidFill>
                        <a:srgbClr val="700171"/>
                      </a:solidFill>
                      <a:prstDash val="solid"/>
                      <a:round/>
                      <a:headEnd type="none" w="med" len="med"/>
                      <a:tailEnd type="none" w="med" len="med"/>
                    </a:lnL>
                    <a:lnR w="7620" cap="flat" cmpd="sng" algn="ctr">
                      <a:solidFill>
                        <a:srgbClr val="700171"/>
                      </a:solidFill>
                      <a:prstDash val="solid"/>
                      <a:round/>
                      <a:headEnd type="none" w="med" len="med"/>
                      <a:tailEnd type="none" w="med" len="med"/>
                    </a:lnR>
                    <a:lnT w="7620" cap="flat" cmpd="sng" algn="ctr">
                      <a:solidFill>
                        <a:srgbClr val="700171"/>
                      </a:solidFill>
                      <a:prstDash val="solid"/>
                      <a:round/>
                      <a:headEnd type="none" w="med" len="med"/>
                      <a:tailEnd type="none" w="med" len="med"/>
                    </a:lnT>
                    <a:lnB w="7620" cap="flat" cmpd="sng" algn="ctr">
                      <a:solidFill>
                        <a:srgbClr val="700171"/>
                      </a:solidFill>
                      <a:prstDash val="solid"/>
                      <a:round/>
                      <a:headEnd type="none" w="med" len="med"/>
                      <a:tailEnd type="none" w="med" len="med"/>
                    </a:lnB>
                    <a:solidFill>
                      <a:srgbClr val="FFFFFF"/>
                    </a:solidFill>
                  </a:tcPr>
                </a:tc>
                <a:tc>
                  <a:txBody>
                    <a:bodyPr/>
                    <a:lstStyle/>
                    <a:p>
                      <a:pPr>
                        <a:buNone/>
                      </a:pPr>
                      <a:r>
                        <a:rPr lang="en-IN">
                          <a:effectLst/>
                        </a:rPr>
                        <a:t>256</a:t>
                      </a:r>
                    </a:p>
                  </a:txBody>
                  <a:tcPr anchor="ctr">
                    <a:lnL w="7620" cap="flat" cmpd="sng" algn="ctr">
                      <a:solidFill>
                        <a:srgbClr val="700171"/>
                      </a:solidFill>
                      <a:prstDash val="solid"/>
                      <a:round/>
                      <a:headEnd type="none" w="med" len="med"/>
                      <a:tailEnd type="none" w="med" len="med"/>
                    </a:lnL>
                    <a:lnR w="7620" cap="flat" cmpd="sng" algn="ctr">
                      <a:solidFill>
                        <a:srgbClr val="700171"/>
                      </a:solidFill>
                      <a:prstDash val="solid"/>
                      <a:round/>
                      <a:headEnd type="none" w="med" len="med"/>
                      <a:tailEnd type="none" w="med" len="med"/>
                    </a:lnR>
                    <a:lnT w="7620" cap="flat" cmpd="sng" algn="ctr">
                      <a:solidFill>
                        <a:srgbClr val="700171"/>
                      </a:solidFill>
                      <a:prstDash val="solid"/>
                      <a:round/>
                      <a:headEnd type="none" w="med" len="med"/>
                      <a:tailEnd type="none" w="med" len="med"/>
                    </a:lnT>
                    <a:lnB w="7620" cap="flat" cmpd="sng" algn="ctr">
                      <a:solidFill>
                        <a:srgbClr val="700171"/>
                      </a:solidFill>
                      <a:prstDash val="solid"/>
                      <a:round/>
                      <a:headEnd type="none" w="med" len="med"/>
                      <a:tailEnd type="none" w="med" len="med"/>
                    </a:lnB>
                    <a:solidFill>
                      <a:srgbClr val="FFFFFF"/>
                    </a:solidFill>
                  </a:tcPr>
                </a:tc>
                <a:tc>
                  <a:txBody>
                    <a:bodyPr/>
                    <a:lstStyle/>
                    <a:p>
                      <a:pPr>
                        <a:buNone/>
                      </a:pPr>
                      <a:r>
                        <a:rPr lang="en-IN">
                          <a:effectLst/>
                        </a:rPr>
                        <a:t>512</a:t>
                      </a:r>
                    </a:p>
                  </a:txBody>
                  <a:tcPr anchor="ctr">
                    <a:lnL w="7620" cap="flat" cmpd="sng" algn="ctr">
                      <a:solidFill>
                        <a:srgbClr val="700171"/>
                      </a:solidFill>
                      <a:prstDash val="solid"/>
                      <a:round/>
                      <a:headEnd type="none" w="med" len="med"/>
                      <a:tailEnd type="none" w="med" len="med"/>
                    </a:lnL>
                    <a:lnR w="7620" cap="flat" cmpd="sng" algn="ctr">
                      <a:solidFill>
                        <a:srgbClr val="700171"/>
                      </a:solidFill>
                      <a:prstDash val="solid"/>
                      <a:round/>
                      <a:headEnd type="none" w="med" len="med"/>
                      <a:tailEnd type="none" w="med" len="med"/>
                    </a:lnR>
                    <a:lnT w="7620" cap="flat" cmpd="sng" algn="ctr">
                      <a:solidFill>
                        <a:srgbClr val="700171"/>
                      </a:solidFill>
                      <a:prstDash val="solid"/>
                      <a:round/>
                      <a:headEnd type="none" w="med" len="med"/>
                      <a:tailEnd type="none" w="med" len="med"/>
                    </a:lnT>
                    <a:lnB w="7620" cap="flat" cmpd="sng" algn="ctr">
                      <a:solidFill>
                        <a:srgbClr val="700171"/>
                      </a:solidFill>
                      <a:prstDash val="solid"/>
                      <a:round/>
                      <a:headEnd type="none" w="med" len="med"/>
                      <a:tailEnd type="none" w="med" len="med"/>
                    </a:lnB>
                    <a:solidFill>
                      <a:srgbClr val="FFFFFF"/>
                    </a:solidFill>
                  </a:tcPr>
                </a:tc>
                <a:extLst>
                  <a:ext uri="{0D108BD9-81ED-4DB2-BD59-A6C34878D82A}">
                    <a16:rowId xmlns:a16="http://schemas.microsoft.com/office/drawing/2014/main" val="2993965616"/>
                  </a:ext>
                </a:extLst>
              </a:tr>
              <a:tr h="1054770">
                <a:tc>
                  <a:txBody>
                    <a:bodyPr/>
                    <a:lstStyle/>
                    <a:p>
                      <a:pPr>
                        <a:buNone/>
                      </a:pPr>
                      <a:r>
                        <a:rPr lang="en-IN" b="1">
                          <a:effectLst/>
                        </a:rPr>
                        <a:t>Credits / Second</a:t>
                      </a:r>
                      <a:endParaRPr lang="en-IN">
                        <a:effectLst/>
                      </a:endParaRPr>
                    </a:p>
                  </a:txBody>
                  <a:tcPr anchor="ctr">
                    <a:lnL w="7620" cap="flat" cmpd="sng" algn="ctr">
                      <a:solidFill>
                        <a:srgbClr val="700171"/>
                      </a:solidFill>
                      <a:prstDash val="solid"/>
                      <a:round/>
                      <a:headEnd type="none" w="med" len="med"/>
                      <a:tailEnd type="none" w="med" len="med"/>
                    </a:lnL>
                    <a:lnR w="7620" cap="flat" cmpd="sng" algn="ctr">
                      <a:solidFill>
                        <a:srgbClr val="700171"/>
                      </a:solidFill>
                      <a:prstDash val="solid"/>
                      <a:round/>
                      <a:headEnd type="none" w="med" len="med"/>
                      <a:tailEnd type="none" w="med" len="med"/>
                    </a:lnR>
                    <a:lnT w="7620" cap="flat" cmpd="sng" algn="ctr">
                      <a:solidFill>
                        <a:srgbClr val="700171"/>
                      </a:solidFill>
                      <a:prstDash val="solid"/>
                      <a:round/>
                      <a:headEnd type="none" w="med" len="med"/>
                      <a:tailEnd type="none" w="med" len="med"/>
                    </a:lnT>
                    <a:lnB w="7620" cap="flat" cmpd="sng" algn="ctr">
                      <a:solidFill>
                        <a:srgbClr val="700171"/>
                      </a:solidFill>
                      <a:prstDash val="solid"/>
                      <a:round/>
                      <a:headEnd type="none" w="med" len="med"/>
                      <a:tailEnd type="none" w="med" len="med"/>
                    </a:lnB>
                    <a:solidFill>
                      <a:srgbClr val="FFFFFF"/>
                    </a:solidFill>
                  </a:tcPr>
                </a:tc>
                <a:tc>
                  <a:txBody>
                    <a:bodyPr/>
                    <a:lstStyle/>
                    <a:p>
                      <a:pPr>
                        <a:buNone/>
                      </a:pPr>
                      <a:r>
                        <a:rPr lang="en-IN">
                          <a:effectLst/>
                        </a:rPr>
                        <a:t>0.0003</a:t>
                      </a:r>
                    </a:p>
                  </a:txBody>
                  <a:tcPr anchor="ctr">
                    <a:lnL w="7620" cap="flat" cmpd="sng" algn="ctr">
                      <a:solidFill>
                        <a:srgbClr val="700171"/>
                      </a:solidFill>
                      <a:prstDash val="solid"/>
                      <a:round/>
                      <a:headEnd type="none" w="med" len="med"/>
                      <a:tailEnd type="none" w="med" len="med"/>
                    </a:lnL>
                    <a:lnR w="7620" cap="flat" cmpd="sng" algn="ctr">
                      <a:solidFill>
                        <a:srgbClr val="700171"/>
                      </a:solidFill>
                      <a:prstDash val="solid"/>
                      <a:round/>
                      <a:headEnd type="none" w="med" len="med"/>
                      <a:tailEnd type="none" w="med" len="med"/>
                    </a:lnR>
                    <a:lnT w="7620" cap="flat" cmpd="sng" algn="ctr">
                      <a:solidFill>
                        <a:srgbClr val="700171"/>
                      </a:solidFill>
                      <a:prstDash val="solid"/>
                      <a:round/>
                      <a:headEnd type="none" w="med" len="med"/>
                      <a:tailEnd type="none" w="med" len="med"/>
                    </a:lnT>
                    <a:lnB w="7620" cap="flat" cmpd="sng" algn="ctr">
                      <a:solidFill>
                        <a:srgbClr val="700171"/>
                      </a:solidFill>
                      <a:prstDash val="solid"/>
                      <a:round/>
                      <a:headEnd type="none" w="med" len="med"/>
                      <a:tailEnd type="none" w="med" len="med"/>
                    </a:lnB>
                    <a:solidFill>
                      <a:srgbClr val="FFFFFF"/>
                    </a:solidFill>
                  </a:tcPr>
                </a:tc>
                <a:tc>
                  <a:txBody>
                    <a:bodyPr/>
                    <a:lstStyle/>
                    <a:p>
                      <a:pPr>
                        <a:buNone/>
                      </a:pPr>
                      <a:r>
                        <a:rPr lang="en-IN">
                          <a:effectLst/>
                        </a:rPr>
                        <a:t>0.0006</a:t>
                      </a:r>
                    </a:p>
                  </a:txBody>
                  <a:tcPr anchor="ctr">
                    <a:lnL w="7620" cap="flat" cmpd="sng" algn="ctr">
                      <a:solidFill>
                        <a:srgbClr val="700171"/>
                      </a:solidFill>
                      <a:prstDash val="solid"/>
                      <a:round/>
                      <a:headEnd type="none" w="med" len="med"/>
                      <a:tailEnd type="none" w="med" len="med"/>
                    </a:lnL>
                    <a:lnR w="7620" cap="flat" cmpd="sng" algn="ctr">
                      <a:solidFill>
                        <a:srgbClr val="700171"/>
                      </a:solidFill>
                      <a:prstDash val="solid"/>
                      <a:round/>
                      <a:headEnd type="none" w="med" len="med"/>
                      <a:tailEnd type="none" w="med" len="med"/>
                    </a:lnR>
                    <a:lnT w="7620" cap="flat" cmpd="sng" algn="ctr">
                      <a:solidFill>
                        <a:srgbClr val="700171"/>
                      </a:solidFill>
                      <a:prstDash val="solid"/>
                      <a:round/>
                      <a:headEnd type="none" w="med" len="med"/>
                      <a:tailEnd type="none" w="med" len="med"/>
                    </a:lnT>
                    <a:lnB w="7620" cap="flat" cmpd="sng" algn="ctr">
                      <a:solidFill>
                        <a:srgbClr val="700171"/>
                      </a:solidFill>
                      <a:prstDash val="solid"/>
                      <a:round/>
                      <a:headEnd type="none" w="med" len="med"/>
                      <a:tailEnd type="none" w="med" len="med"/>
                    </a:lnB>
                    <a:solidFill>
                      <a:srgbClr val="FFFFFF"/>
                    </a:solidFill>
                  </a:tcPr>
                </a:tc>
                <a:tc>
                  <a:txBody>
                    <a:bodyPr/>
                    <a:lstStyle/>
                    <a:p>
                      <a:pPr>
                        <a:buNone/>
                      </a:pPr>
                      <a:r>
                        <a:rPr lang="en-IN">
                          <a:effectLst/>
                        </a:rPr>
                        <a:t>0.0011</a:t>
                      </a:r>
                    </a:p>
                  </a:txBody>
                  <a:tcPr anchor="ctr">
                    <a:lnL w="7620" cap="flat" cmpd="sng" algn="ctr">
                      <a:solidFill>
                        <a:srgbClr val="700171"/>
                      </a:solidFill>
                      <a:prstDash val="solid"/>
                      <a:round/>
                      <a:headEnd type="none" w="med" len="med"/>
                      <a:tailEnd type="none" w="med" len="med"/>
                    </a:lnL>
                    <a:lnR w="7620" cap="flat" cmpd="sng" algn="ctr">
                      <a:solidFill>
                        <a:srgbClr val="700171"/>
                      </a:solidFill>
                      <a:prstDash val="solid"/>
                      <a:round/>
                      <a:headEnd type="none" w="med" len="med"/>
                      <a:tailEnd type="none" w="med" len="med"/>
                    </a:lnR>
                    <a:lnT w="7620" cap="flat" cmpd="sng" algn="ctr">
                      <a:solidFill>
                        <a:srgbClr val="700171"/>
                      </a:solidFill>
                      <a:prstDash val="solid"/>
                      <a:round/>
                      <a:headEnd type="none" w="med" len="med"/>
                      <a:tailEnd type="none" w="med" len="med"/>
                    </a:lnT>
                    <a:lnB w="7620" cap="flat" cmpd="sng" algn="ctr">
                      <a:solidFill>
                        <a:srgbClr val="700171"/>
                      </a:solidFill>
                      <a:prstDash val="solid"/>
                      <a:round/>
                      <a:headEnd type="none" w="med" len="med"/>
                      <a:tailEnd type="none" w="med" len="med"/>
                    </a:lnB>
                    <a:solidFill>
                      <a:srgbClr val="FFFFFF"/>
                    </a:solidFill>
                  </a:tcPr>
                </a:tc>
                <a:tc>
                  <a:txBody>
                    <a:bodyPr/>
                    <a:lstStyle/>
                    <a:p>
                      <a:pPr>
                        <a:buNone/>
                      </a:pPr>
                      <a:r>
                        <a:rPr lang="en-IN">
                          <a:effectLst/>
                        </a:rPr>
                        <a:t>0.0022</a:t>
                      </a:r>
                    </a:p>
                  </a:txBody>
                  <a:tcPr anchor="ctr">
                    <a:lnL w="7620" cap="flat" cmpd="sng" algn="ctr">
                      <a:solidFill>
                        <a:srgbClr val="700171"/>
                      </a:solidFill>
                      <a:prstDash val="solid"/>
                      <a:round/>
                      <a:headEnd type="none" w="med" len="med"/>
                      <a:tailEnd type="none" w="med" len="med"/>
                    </a:lnL>
                    <a:lnR w="7620" cap="flat" cmpd="sng" algn="ctr">
                      <a:solidFill>
                        <a:srgbClr val="700171"/>
                      </a:solidFill>
                      <a:prstDash val="solid"/>
                      <a:round/>
                      <a:headEnd type="none" w="med" len="med"/>
                      <a:tailEnd type="none" w="med" len="med"/>
                    </a:lnR>
                    <a:lnT w="7620" cap="flat" cmpd="sng" algn="ctr">
                      <a:solidFill>
                        <a:srgbClr val="700171"/>
                      </a:solidFill>
                      <a:prstDash val="solid"/>
                      <a:round/>
                      <a:headEnd type="none" w="med" len="med"/>
                      <a:tailEnd type="none" w="med" len="med"/>
                    </a:lnT>
                    <a:lnB w="7620" cap="flat" cmpd="sng" algn="ctr">
                      <a:solidFill>
                        <a:srgbClr val="700171"/>
                      </a:solidFill>
                      <a:prstDash val="solid"/>
                      <a:round/>
                      <a:headEnd type="none" w="med" len="med"/>
                      <a:tailEnd type="none" w="med" len="med"/>
                    </a:lnB>
                    <a:solidFill>
                      <a:srgbClr val="FFFFFF"/>
                    </a:solidFill>
                  </a:tcPr>
                </a:tc>
                <a:tc>
                  <a:txBody>
                    <a:bodyPr/>
                    <a:lstStyle/>
                    <a:p>
                      <a:pPr>
                        <a:buNone/>
                      </a:pPr>
                      <a:r>
                        <a:rPr lang="en-IN">
                          <a:effectLst/>
                        </a:rPr>
                        <a:t>0.0044</a:t>
                      </a:r>
                    </a:p>
                  </a:txBody>
                  <a:tcPr anchor="ctr">
                    <a:lnL w="7620" cap="flat" cmpd="sng" algn="ctr">
                      <a:solidFill>
                        <a:srgbClr val="700171"/>
                      </a:solidFill>
                      <a:prstDash val="solid"/>
                      <a:round/>
                      <a:headEnd type="none" w="med" len="med"/>
                      <a:tailEnd type="none" w="med" len="med"/>
                    </a:lnL>
                    <a:lnR w="7620" cap="flat" cmpd="sng" algn="ctr">
                      <a:solidFill>
                        <a:srgbClr val="700171"/>
                      </a:solidFill>
                      <a:prstDash val="solid"/>
                      <a:round/>
                      <a:headEnd type="none" w="med" len="med"/>
                      <a:tailEnd type="none" w="med" len="med"/>
                    </a:lnR>
                    <a:lnT w="7620" cap="flat" cmpd="sng" algn="ctr">
                      <a:solidFill>
                        <a:srgbClr val="700171"/>
                      </a:solidFill>
                      <a:prstDash val="solid"/>
                      <a:round/>
                      <a:headEnd type="none" w="med" len="med"/>
                      <a:tailEnd type="none" w="med" len="med"/>
                    </a:lnT>
                    <a:lnB w="7620" cap="flat" cmpd="sng" algn="ctr">
                      <a:solidFill>
                        <a:srgbClr val="700171"/>
                      </a:solidFill>
                      <a:prstDash val="solid"/>
                      <a:round/>
                      <a:headEnd type="none" w="med" len="med"/>
                      <a:tailEnd type="none" w="med" len="med"/>
                    </a:lnB>
                    <a:solidFill>
                      <a:srgbClr val="FFFFFF"/>
                    </a:solidFill>
                  </a:tcPr>
                </a:tc>
                <a:tc>
                  <a:txBody>
                    <a:bodyPr/>
                    <a:lstStyle/>
                    <a:p>
                      <a:pPr>
                        <a:buNone/>
                      </a:pPr>
                      <a:r>
                        <a:rPr lang="en-IN">
                          <a:effectLst/>
                        </a:rPr>
                        <a:t>0.0089</a:t>
                      </a:r>
                    </a:p>
                  </a:txBody>
                  <a:tcPr anchor="ctr">
                    <a:lnL w="7620" cap="flat" cmpd="sng" algn="ctr">
                      <a:solidFill>
                        <a:srgbClr val="700171"/>
                      </a:solidFill>
                      <a:prstDash val="solid"/>
                      <a:round/>
                      <a:headEnd type="none" w="med" len="med"/>
                      <a:tailEnd type="none" w="med" len="med"/>
                    </a:lnL>
                    <a:lnR w="7620" cap="flat" cmpd="sng" algn="ctr">
                      <a:solidFill>
                        <a:srgbClr val="700171"/>
                      </a:solidFill>
                      <a:prstDash val="solid"/>
                      <a:round/>
                      <a:headEnd type="none" w="med" len="med"/>
                      <a:tailEnd type="none" w="med" len="med"/>
                    </a:lnR>
                    <a:lnT w="7620" cap="flat" cmpd="sng" algn="ctr">
                      <a:solidFill>
                        <a:srgbClr val="700171"/>
                      </a:solidFill>
                      <a:prstDash val="solid"/>
                      <a:round/>
                      <a:headEnd type="none" w="med" len="med"/>
                      <a:tailEnd type="none" w="med" len="med"/>
                    </a:lnT>
                    <a:lnB w="7620" cap="flat" cmpd="sng" algn="ctr">
                      <a:solidFill>
                        <a:srgbClr val="700171"/>
                      </a:solidFill>
                      <a:prstDash val="solid"/>
                      <a:round/>
                      <a:headEnd type="none" w="med" len="med"/>
                      <a:tailEnd type="none" w="med" len="med"/>
                    </a:lnB>
                    <a:solidFill>
                      <a:srgbClr val="FFFFFF"/>
                    </a:solidFill>
                  </a:tcPr>
                </a:tc>
                <a:tc>
                  <a:txBody>
                    <a:bodyPr/>
                    <a:lstStyle/>
                    <a:p>
                      <a:pPr>
                        <a:buNone/>
                      </a:pPr>
                      <a:r>
                        <a:rPr lang="en-IN">
                          <a:effectLst/>
                        </a:rPr>
                        <a:t>0.0178</a:t>
                      </a:r>
                    </a:p>
                  </a:txBody>
                  <a:tcPr anchor="ctr">
                    <a:lnL w="7620" cap="flat" cmpd="sng" algn="ctr">
                      <a:solidFill>
                        <a:srgbClr val="700171"/>
                      </a:solidFill>
                      <a:prstDash val="solid"/>
                      <a:round/>
                      <a:headEnd type="none" w="med" len="med"/>
                      <a:tailEnd type="none" w="med" len="med"/>
                    </a:lnL>
                    <a:lnR w="7620" cap="flat" cmpd="sng" algn="ctr">
                      <a:solidFill>
                        <a:srgbClr val="700171"/>
                      </a:solidFill>
                      <a:prstDash val="solid"/>
                      <a:round/>
                      <a:headEnd type="none" w="med" len="med"/>
                      <a:tailEnd type="none" w="med" len="med"/>
                    </a:lnR>
                    <a:lnT w="7620" cap="flat" cmpd="sng" algn="ctr">
                      <a:solidFill>
                        <a:srgbClr val="700171"/>
                      </a:solidFill>
                      <a:prstDash val="solid"/>
                      <a:round/>
                      <a:headEnd type="none" w="med" len="med"/>
                      <a:tailEnd type="none" w="med" len="med"/>
                    </a:lnT>
                    <a:lnB w="7620" cap="flat" cmpd="sng" algn="ctr">
                      <a:solidFill>
                        <a:srgbClr val="700171"/>
                      </a:solidFill>
                      <a:prstDash val="solid"/>
                      <a:round/>
                      <a:headEnd type="none" w="med" len="med"/>
                      <a:tailEnd type="none" w="med" len="med"/>
                    </a:lnB>
                    <a:solidFill>
                      <a:srgbClr val="FFFFFF"/>
                    </a:solidFill>
                  </a:tcPr>
                </a:tc>
                <a:tc>
                  <a:txBody>
                    <a:bodyPr/>
                    <a:lstStyle/>
                    <a:p>
                      <a:pPr>
                        <a:buNone/>
                      </a:pPr>
                      <a:r>
                        <a:rPr lang="en-IN">
                          <a:effectLst/>
                        </a:rPr>
                        <a:t>0.0356</a:t>
                      </a:r>
                    </a:p>
                  </a:txBody>
                  <a:tcPr anchor="ctr">
                    <a:lnL w="7620" cap="flat" cmpd="sng" algn="ctr">
                      <a:solidFill>
                        <a:srgbClr val="700171"/>
                      </a:solidFill>
                      <a:prstDash val="solid"/>
                      <a:round/>
                      <a:headEnd type="none" w="med" len="med"/>
                      <a:tailEnd type="none" w="med" len="med"/>
                    </a:lnL>
                    <a:lnR w="7620" cap="flat" cmpd="sng" algn="ctr">
                      <a:solidFill>
                        <a:srgbClr val="700171"/>
                      </a:solidFill>
                      <a:prstDash val="solid"/>
                      <a:round/>
                      <a:headEnd type="none" w="med" len="med"/>
                      <a:tailEnd type="none" w="med" len="med"/>
                    </a:lnR>
                    <a:lnT w="7620" cap="flat" cmpd="sng" algn="ctr">
                      <a:solidFill>
                        <a:srgbClr val="700171"/>
                      </a:solidFill>
                      <a:prstDash val="solid"/>
                      <a:round/>
                      <a:headEnd type="none" w="med" len="med"/>
                      <a:tailEnd type="none" w="med" len="med"/>
                    </a:lnT>
                    <a:lnB w="7620" cap="flat" cmpd="sng" algn="ctr">
                      <a:solidFill>
                        <a:srgbClr val="700171"/>
                      </a:solidFill>
                      <a:prstDash val="solid"/>
                      <a:round/>
                      <a:headEnd type="none" w="med" len="med"/>
                      <a:tailEnd type="none" w="med" len="med"/>
                    </a:lnB>
                    <a:solidFill>
                      <a:srgbClr val="FFFFFF"/>
                    </a:solidFill>
                  </a:tcPr>
                </a:tc>
                <a:tc>
                  <a:txBody>
                    <a:bodyPr/>
                    <a:lstStyle/>
                    <a:p>
                      <a:pPr>
                        <a:buNone/>
                      </a:pPr>
                      <a:r>
                        <a:rPr lang="en-IN">
                          <a:effectLst/>
                        </a:rPr>
                        <a:t>0.0711</a:t>
                      </a:r>
                    </a:p>
                  </a:txBody>
                  <a:tcPr anchor="ctr">
                    <a:lnL w="7620" cap="flat" cmpd="sng" algn="ctr">
                      <a:solidFill>
                        <a:srgbClr val="700171"/>
                      </a:solidFill>
                      <a:prstDash val="solid"/>
                      <a:round/>
                      <a:headEnd type="none" w="med" len="med"/>
                      <a:tailEnd type="none" w="med" len="med"/>
                    </a:lnL>
                    <a:lnR w="7620" cap="flat" cmpd="sng" algn="ctr">
                      <a:solidFill>
                        <a:srgbClr val="700171"/>
                      </a:solidFill>
                      <a:prstDash val="solid"/>
                      <a:round/>
                      <a:headEnd type="none" w="med" len="med"/>
                      <a:tailEnd type="none" w="med" len="med"/>
                    </a:lnR>
                    <a:lnT w="7620" cap="flat" cmpd="sng" algn="ctr">
                      <a:solidFill>
                        <a:srgbClr val="700171"/>
                      </a:solidFill>
                      <a:prstDash val="solid"/>
                      <a:round/>
                      <a:headEnd type="none" w="med" len="med"/>
                      <a:tailEnd type="none" w="med" len="med"/>
                    </a:lnT>
                    <a:lnB w="7620" cap="flat" cmpd="sng" algn="ctr">
                      <a:solidFill>
                        <a:srgbClr val="700171"/>
                      </a:solidFill>
                      <a:prstDash val="solid"/>
                      <a:round/>
                      <a:headEnd type="none" w="med" len="med"/>
                      <a:tailEnd type="none" w="med" len="med"/>
                    </a:lnB>
                    <a:solidFill>
                      <a:srgbClr val="FFFFFF"/>
                    </a:solidFill>
                  </a:tcPr>
                </a:tc>
                <a:tc>
                  <a:txBody>
                    <a:bodyPr/>
                    <a:lstStyle/>
                    <a:p>
                      <a:pPr>
                        <a:buNone/>
                      </a:pPr>
                      <a:r>
                        <a:rPr lang="en-IN" dirty="0">
                          <a:effectLst/>
                        </a:rPr>
                        <a:t>0.1422</a:t>
                      </a:r>
                    </a:p>
                  </a:txBody>
                  <a:tcPr anchor="ctr">
                    <a:lnL w="7620" cap="flat" cmpd="sng" algn="ctr">
                      <a:solidFill>
                        <a:srgbClr val="700171"/>
                      </a:solidFill>
                      <a:prstDash val="solid"/>
                      <a:round/>
                      <a:headEnd type="none" w="med" len="med"/>
                      <a:tailEnd type="none" w="med" len="med"/>
                    </a:lnL>
                    <a:lnR w="7620" cap="flat" cmpd="sng" algn="ctr">
                      <a:solidFill>
                        <a:srgbClr val="700171"/>
                      </a:solidFill>
                      <a:prstDash val="solid"/>
                      <a:round/>
                      <a:headEnd type="none" w="med" len="med"/>
                      <a:tailEnd type="none" w="med" len="med"/>
                    </a:lnR>
                    <a:lnT w="7620" cap="flat" cmpd="sng" algn="ctr">
                      <a:solidFill>
                        <a:srgbClr val="700171"/>
                      </a:solidFill>
                      <a:prstDash val="solid"/>
                      <a:round/>
                      <a:headEnd type="none" w="med" len="med"/>
                      <a:tailEnd type="none" w="med" len="med"/>
                    </a:lnT>
                    <a:lnB w="7620" cap="flat" cmpd="sng" algn="ctr">
                      <a:solidFill>
                        <a:srgbClr val="700171"/>
                      </a:solidFill>
                      <a:prstDash val="solid"/>
                      <a:round/>
                      <a:headEnd type="none" w="med" len="med"/>
                      <a:tailEnd type="none" w="med" len="med"/>
                    </a:lnB>
                    <a:solidFill>
                      <a:srgbClr val="FFFFFF"/>
                    </a:solidFill>
                  </a:tcPr>
                </a:tc>
                <a:extLst>
                  <a:ext uri="{0D108BD9-81ED-4DB2-BD59-A6C34878D82A}">
                    <a16:rowId xmlns:a16="http://schemas.microsoft.com/office/drawing/2014/main" val="413230072"/>
                  </a:ext>
                </a:extLst>
              </a:tr>
            </a:tbl>
          </a:graphicData>
        </a:graphic>
      </p:graphicFrame>
    </p:spTree>
    <p:extLst>
      <p:ext uri="{BB962C8B-B14F-4D97-AF65-F5344CB8AC3E}">
        <p14:creationId xmlns:p14="http://schemas.microsoft.com/office/powerpoint/2010/main" val="26133084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F3B8FB-DA7B-FA78-2365-267E3C0078F3}"/>
              </a:ext>
            </a:extLst>
          </p:cNvPr>
          <p:cNvSpPr>
            <a:spLocks noGrp="1"/>
          </p:cNvSpPr>
          <p:nvPr>
            <p:ph type="title"/>
          </p:nvPr>
        </p:nvSpPr>
        <p:spPr>
          <a:xfrm>
            <a:off x="0" y="18256"/>
            <a:ext cx="10515600" cy="1093572"/>
          </a:xfrm>
        </p:spPr>
        <p:txBody>
          <a:bodyPr>
            <a:normAutofit fontScale="90000"/>
          </a:bodyPr>
          <a:lstStyle/>
          <a:p>
            <a:r>
              <a:rPr lang="en-IN" b="1" dirty="0"/>
              <a:t>Multi-cluster Warehouses</a:t>
            </a:r>
            <a:br>
              <a:rPr lang="en-IN" dirty="0"/>
            </a:br>
            <a:endParaRPr lang="en-IN" dirty="0"/>
          </a:p>
        </p:txBody>
      </p:sp>
      <p:sp>
        <p:nvSpPr>
          <p:cNvPr id="3" name="Content Placeholder 2">
            <a:extLst>
              <a:ext uri="{FF2B5EF4-FFF2-40B4-BE49-F238E27FC236}">
                <a16:creationId xmlns:a16="http://schemas.microsoft.com/office/drawing/2014/main" id="{BF07FBAF-BF99-9C92-5611-1773E3E90B9A}"/>
              </a:ext>
            </a:extLst>
          </p:cNvPr>
          <p:cNvSpPr>
            <a:spLocks noGrp="1"/>
          </p:cNvSpPr>
          <p:nvPr>
            <p:ph idx="1"/>
          </p:nvPr>
        </p:nvSpPr>
        <p:spPr>
          <a:xfrm>
            <a:off x="152400" y="1337252"/>
            <a:ext cx="11693236" cy="4351338"/>
          </a:xfrm>
        </p:spPr>
        <p:txBody>
          <a:bodyPr>
            <a:normAutofit fontScale="92500" lnSpcReduction="20000"/>
          </a:bodyPr>
          <a:lstStyle/>
          <a:p>
            <a:pPr marL="0" indent="0">
              <a:buNone/>
            </a:pPr>
            <a:r>
              <a:rPr lang="en-US" b="1" dirty="0"/>
              <a:t>Multi-cluster warehouses enable you to automatically </a:t>
            </a:r>
            <a:r>
              <a:rPr lang="en-US" b="1" u="sng" dirty="0"/>
              <a:t>scale out</a:t>
            </a:r>
            <a:r>
              <a:rPr lang="en-US" b="1" dirty="0"/>
              <a:t> compute resources to manage your concurrent users/queries needs as they change, such as during peak and off hours. </a:t>
            </a:r>
          </a:p>
          <a:p>
            <a:pPr marL="0" indent="0">
              <a:buNone/>
            </a:pPr>
            <a:r>
              <a:rPr lang="en-US" b="1" dirty="0">
                <a:solidFill>
                  <a:srgbClr val="FF0000"/>
                </a:solidFill>
              </a:rPr>
              <a:t>Multi-cluster warehouses are an Enterprise Edition feature.</a:t>
            </a:r>
          </a:p>
          <a:p>
            <a:pPr marL="0" indent="0">
              <a:buNone/>
            </a:pPr>
            <a:endParaRPr lang="en-US" dirty="0"/>
          </a:p>
          <a:p>
            <a:pPr marL="0" indent="0">
              <a:buNone/>
            </a:pPr>
            <a:r>
              <a:rPr lang="en-US" i="1" dirty="0"/>
              <a:t>Note that </a:t>
            </a:r>
            <a:r>
              <a:rPr lang="en-US" b="1" i="1" dirty="0">
                <a:highlight>
                  <a:srgbClr val="FFFF00"/>
                </a:highlight>
              </a:rPr>
              <a:t>Multi-cluster warehouses are not as beneficial for improving the performance of slow-running queries or data loading</a:t>
            </a:r>
            <a:r>
              <a:rPr lang="en-US" i="1" dirty="0"/>
              <a:t>. For these types of operations, </a:t>
            </a:r>
            <a:r>
              <a:rPr lang="en-US" b="1" i="1" dirty="0">
                <a:solidFill>
                  <a:srgbClr val="FF0000"/>
                </a:solidFill>
              </a:rPr>
              <a:t>Scaling up by resizing a warehouse provides more benefits</a:t>
            </a:r>
            <a:r>
              <a:rPr lang="en-US" i="1" dirty="0"/>
              <a:t>.</a:t>
            </a:r>
          </a:p>
          <a:p>
            <a:pPr marL="0" indent="0">
              <a:buNone/>
            </a:pPr>
            <a:endParaRPr lang="en-US" i="1" dirty="0"/>
          </a:p>
          <a:p>
            <a:pPr marL="0" indent="0">
              <a:buNone/>
            </a:pPr>
            <a:r>
              <a:rPr lang="en-US" i="1" dirty="0"/>
              <a:t>Note that </a:t>
            </a:r>
            <a:r>
              <a:rPr lang="en-US" b="1" i="1" dirty="0">
                <a:highlight>
                  <a:srgbClr val="FFFF00"/>
                </a:highlight>
              </a:rPr>
              <a:t>warehouse resizing is not intended for handling concurrency issues</a:t>
            </a:r>
            <a:r>
              <a:rPr lang="en-US" i="1" dirty="0"/>
              <a:t>. Instead </a:t>
            </a:r>
            <a:r>
              <a:rPr lang="en-US" b="1" i="1" dirty="0">
                <a:solidFill>
                  <a:srgbClr val="FF0000"/>
                </a:solidFill>
              </a:rPr>
              <a:t>use Multi-cluster Warehouse where you could spin-up additional warehouses to handle the workload.</a:t>
            </a:r>
            <a:endParaRPr lang="en-IN" b="1" dirty="0">
              <a:solidFill>
                <a:srgbClr val="FF0000"/>
              </a:solidFill>
            </a:endParaRPr>
          </a:p>
        </p:txBody>
      </p:sp>
    </p:spTree>
    <p:extLst>
      <p:ext uri="{BB962C8B-B14F-4D97-AF65-F5344CB8AC3E}">
        <p14:creationId xmlns:p14="http://schemas.microsoft.com/office/powerpoint/2010/main" val="25007423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5D781C-26A9-4D31-605C-8715FBEE3778}"/>
              </a:ext>
            </a:extLst>
          </p:cNvPr>
          <p:cNvSpPr>
            <a:spLocks noGrp="1"/>
          </p:cNvSpPr>
          <p:nvPr>
            <p:ph type="title"/>
          </p:nvPr>
        </p:nvSpPr>
        <p:spPr>
          <a:xfrm>
            <a:off x="0" y="18256"/>
            <a:ext cx="10515600" cy="833800"/>
          </a:xfrm>
        </p:spPr>
        <p:txBody>
          <a:bodyPr/>
          <a:lstStyle/>
          <a:p>
            <a:r>
              <a:rPr lang="en-IN" b="1" dirty="0">
                <a:highlight>
                  <a:srgbClr val="FFFF00"/>
                </a:highlight>
              </a:rPr>
              <a:t>Warehouse sizing modes</a:t>
            </a:r>
          </a:p>
        </p:txBody>
      </p:sp>
      <p:sp>
        <p:nvSpPr>
          <p:cNvPr id="3" name="Content Placeholder 2">
            <a:extLst>
              <a:ext uri="{FF2B5EF4-FFF2-40B4-BE49-F238E27FC236}">
                <a16:creationId xmlns:a16="http://schemas.microsoft.com/office/drawing/2014/main" id="{3AA32B86-8887-52CD-A695-449214802F3E}"/>
              </a:ext>
            </a:extLst>
          </p:cNvPr>
          <p:cNvSpPr>
            <a:spLocks noGrp="1"/>
          </p:cNvSpPr>
          <p:nvPr>
            <p:ph idx="1"/>
          </p:nvPr>
        </p:nvSpPr>
        <p:spPr>
          <a:xfrm>
            <a:off x="214746" y="1378816"/>
            <a:ext cx="11765972" cy="4351338"/>
          </a:xfrm>
        </p:spPr>
        <p:txBody>
          <a:bodyPr>
            <a:normAutofit fontScale="70000" lnSpcReduction="20000"/>
          </a:bodyPr>
          <a:lstStyle/>
          <a:p>
            <a:pPr marL="0" indent="0">
              <a:buNone/>
            </a:pPr>
            <a:r>
              <a:rPr lang="en-IN" b="1" dirty="0">
                <a:solidFill>
                  <a:srgbClr val="FF0000"/>
                </a:solidFill>
              </a:rPr>
              <a:t>Maximized  Auto-Scale Modes</a:t>
            </a:r>
          </a:p>
          <a:p>
            <a:endParaRPr lang="en-IN" dirty="0"/>
          </a:p>
          <a:p>
            <a:r>
              <a:rPr lang="en-US" dirty="0"/>
              <a:t>This mode is </a:t>
            </a:r>
            <a:r>
              <a:rPr lang="en-US" dirty="0">
                <a:highlight>
                  <a:srgbClr val="FFFF00"/>
                </a:highlight>
              </a:rPr>
              <a:t>enabled by specifying the </a:t>
            </a:r>
            <a:r>
              <a:rPr lang="en-US" b="1" dirty="0">
                <a:highlight>
                  <a:srgbClr val="FFFF00"/>
                </a:highlight>
              </a:rPr>
              <a:t>same value for both maximum and minimum number of clusters</a:t>
            </a:r>
            <a:r>
              <a:rPr lang="en-US" dirty="0">
                <a:highlight>
                  <a:srgbClr val="FFFF00"/>
                </a:highlight>
              </a:rPr>
              <a:t> </a:t>
            </a:r>
            <a:r>
              <a:rPr lang="en-US" dirty="0"/>
              <a:t>(note that the specified value must be larger than 1). </a:t>
            </a:r>
            <a:r>
              <a:rPr lang="en-US" b="1" dirty="0">
                <a:solidFill>
                  <a:srgbClr val="FF0000"/>
                </a:solidFill>
              </a:rPr>
              <a:t>In this mode, when the warehouse is started, Snowflake starts all the clusters so that maximum resources are available while the warehouse is running.</a:t>
            </a:r>
          </a:p>
          <a:p>
            <a:endParaRPr lang="en-US" b="1" dirty="0">
              <a:solidFill>
                <a:srgbClr val="FF0000"/>
              </a:solidFill>
            </a:endParaRPr>
          </a:p>
          <a:p>
            <a:pPr marL="0" indent="0">
              <a:buNone/>
            </a:pPr>
            <a:r>
              <a:rPr lang="en-IN" b="1" dirty="0">
                <a:solidFill>
                  <a:srgbClr val="FF0000"/>
                </a:solidFill>
              </a:rPr>
              <a:t>Auto-Scale Modes</a:t>
            </a:r>
          </a:p>
          <a:p>
            <a:endParaRPr lang="en-IN" b="1" dirty="0"/>
          </a:p>
          <a:p>
            <a:r>
              <a:rPr lang="en-US" dirty="0"/>
              <a:t>This mode is </a:t>
            </a:r>
            <a:r>
              <a:rPr lang="en-US" b="1" dirty="0">
                <a:solidFill>
                  <a:srgbClr val="FF0000"/>
                </a:solidFill>
              </a:rPr>
              <a:t>enabled by specifying different values for maximum and minimum number of clusters. In this mode, Snowflake starts and stops clusters as needed to dynamically manage the load on the warehouse:</a:t>
            </a:r>
          </a:p>
          <a:p>
            <a:r>
              <a:rPr lang="en-US" dirty="0"/>
              <a:t>As the number of concurrent user sessions/queries for the warehouse increases, the queries start to queue due to insufficient resources. Snowflake then automatically starts additional clusters, up to the maximum number defined for the warehouse.</a:t>
            </a:r>
          </a:p>
          <a:p>
            <a:r>
              <a:rPr lang="en-US" dirty="0"/>
              <a:t>Similarly, as the load on the warehouse decreases, Snowflake automatically shuts down clusters to reduce the number of running clusters and, correspondingly, the number of credits used by the </a:t>
            </a:r>
            <a:r>
              <a:rPr lang="en-US" dirty="0" err="1"/>
              <a:t>wareho</a:t>
            </a:r>
            <a:endParaRPr lang="en-US" dirty="0"/>
          </a:p>
          <a:p>
            <a:endParaRPr lang="en-IN" dirty="0"/>
          </a:p>
          <a:p>
            <a:endParaRPr lang="en-US" dirty="0"/>
          </a:p>
          <a:p>
            <a:endParaRPr lang="en-US" dirty="0"/>
          </a:p>
          <a:p>
            <a:endParaRPr lang="en-IN" dirty="0"/>
          </a:p>
        </p:txBody>
      </p:sp>
    </p:spTree>
    <p:extLst>
      <p:ext uri="{BB962C8B-B14F-4D97-AF65-F5344CB8AC3E}">
        <p14:creationId xmlns:p14="http://schemas.microsoft.com/office/powerpoint/2010/main" val="12184687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81D3AC-E52A-DE62-1239-C778161E0B6D}"/>
              </a:ext>
            </a:extLst>
          </p:cNvPr>
          <p:cNvSpPr>
            <a:spLocks noGrp="1"/>
          </p:cNvSpPr>
          <p:nvPr>
            <p:ph type="title"/>
          </p:nvPr>
        </p:nvSpPr>
        <p:spPr>
          <a:xfrm>
            <a:off x="0" y="0"/>
            <a:ext cx="10515600" cy="1371600"/>
          </a:xfrm>
        </p:spPr>
        <p:txBody>
          <a:bodyPr/>
          <a:lstStyle/>
          <a:p>
            <a:r>
              <a:rPr lang="en-IN" b="1" dirty="0"/>
              <a:t>Scaling Policy</a:t>
            </a:r>
            <a:br>
              <a:rPr lang="en-IN" dirty="0"/>
            </a:br>
            <a:endParaRPr lang="en-IN" dirty="0"/>
          </a:p>
        </p:txBody>
      </p:sp>
      <p:sp>
        <p:nvSpPr>
          <p:cNvPr id="3" name="Content Placeholder 2">
            <a:extLst>
              <a:ext uri="{FF2B5EF4-FFF2-40B4-BE49-F238E27FC236}">
                <a16:creationId xmlns:a16="http://schemas.microsoft.com/office/drawing/2014/main" id="{A8126132-8A73-E470-7F31-743AA4A46359}"/>
              </a:ext>
            </a:extLst>
          </p:cNvPr>
          <p:cNvSpPr>
            <a:spLocks noGrp="1"/>
          </p:cNvSpPr>
          <p:nvPr>
            <p:ph idx="1"/>
          </p:nvPr>
        </p:nvSpPr>
        <p:spPr>
          <a:xfrm>
            <a:off x="225135" y="1371600"/>
            <a:ext cx="11693237" cy="5164282"/>
          </a:xfrm>
        </p:spPr>
        <p:txBody>
          <a:bodyPr>
            <a:normAutofit fontScale="85000" lnSpcReduction="20000"/>
          </a:bodyPr>
          <a:lstStyle/>
          <a:p>
            <a:r>
              <a:rPr lang="en-US" dirty="0"/>
              <a:t>Snowflake supports the following </a:t>
            </a:r>
            <a:r>
              <a:rPr lang="en-US" b="1" dirty="0">
                <a:solidFill>
                  <a:srgbClr val="FF0000"/>
                </a:solidFill>
              </a:rPr>
              <a:t>scaling policies</a:t>
            </a:r>
            <a:r>
              <a:rPr lang="en-US" dirty="0"/>
              <a:t>.</a:t>
            </a:r>
          </a:p>
          <a:p>
            <a:pPr marL="0" indent="0">
              <a:buNone/>
            </a:pPr>
            <a:endParaRPr lang="en-US" dirty="0"/>
          </a:p>
          <a:p>
            <a:pPr marL="0" indent="0">
              <a:buNone/>
            </a:pPr>
            <a:r>
              <a:rPr lang="en-US" b="1" dirty="0">
                <a:highlight>
                  <a:srgbClr val="FFFF00"/>
                </a:highlight>
              </a:rPr>
              <a:t>Standard:</a:t>
            </a:r>
          </a:p>
          <a:p>
            <a:endParaRPr lang="en-US" dirty="0"/>
          </a:p>
          <a:p>
            <a:r>
              <a:rPr lang="en-US" dirty="0"/>
              <a:t>It </a:t>
            </a:r>
            <a:r>
              <a:rPr lang="en-US" b="1" dirty="0">
                <a:solidFill>
                  <a:srgbClr val="FF0000"/>
                </a:solidFill>
              </a:rPr>
              <a:t>prevents/minimizes queuing </a:t>
            </a:r>
            <a:r>
              <a:rPr lang="en-US" dirty="0"/>
              <a:t>by favoring </a:t>
            </a:r>
            <a:r>
              <a:rPr lang="en-US" b="1" dirty="0">
                <a:highlight>
                  <a:srgbClr val="FFFF00"/>
                </a:highlight>
              </a:rPr>
              <a:t>starting additional clusters over conserving credits.</a:t>
            </a:r>
          </a:p>
          <a:p>
            <a:r>
              <a:rPr lang="en-US" dirty="0"/>
              <a:t>After the first cluster has begun, the </a:t>
            </a:r>
            <a:r>
              <a:rPr lang="en-US" b="1" dirty="0">
                <a:solidFill>
                  <a:srgbClr val="FF0000"/>
                </a:solidFill>
              </a:rPr>
              <a:t>following clusters wait 20 seconds before beginning</a:t>
            </a:r>
            <a:r>
              <a:rPr lang="en-US" dirty="0"/>
              <a:t>.</a:t>
            </a:r>
          </a:p>
          <a:p>
            <a:pPr marL="0" indent="0">
              <a:buNone/>
            </a:pPr>
            <a:endParaRPr lang="en-US" dirty="0"/>
          </a:p>
          <a:p>
            <a:pPr marL="0" indent="0">
              <a:buNone/>
            </a:pPr>
            <a:r>
              <a:rPr lang="en-US" b="1" dirty="0">
                <a:highlight>
                  <a:srgbClr val="FFFF00"/>
                </a:highlight>
              </a:rPr>
              <a:t>Economy:</a:t>
            </a:r>
          </a:p>
          <a:p>
            <a:endParaRPr lang="en-US" dirty="0"/>
          </a:p>
          <a:p>
            <a:r>
              <a:rPr lang="en-US" dirty="0"/>
              <a:t>It </a:t>
            </a:r>
            <a:r>
              <a:rPr lang="en-US" b="1" dirty="0">
                <a:highlight>
                  <a:srgbClr val="FFFF00"/>
                </a:highlight>
              </a:rPr>
              <a:t>conserves credits by favoring keeping running clusters fully-loaded rather than starting additional clusters</a:t>
            </a:r>
            <a:r>
              <a:rPr lang="en-US" dirty="0"/>
              <a:t>.</a:t>
            </a:r>
          </a:p>
          <a:p>
            <a:r>
              <a:rPr lang="en-US" b="1" dirty="0">
                <a:solidFill>
                  <a:srgbClr val="FF0000"/>
                </a:solidFill>
              </a:rPr>
              <a:t>A new cluster is started only if the system estimates there’s enough query load to keep the cluster busy for at least 6 minutes</a:t>
            </a:r>
            <a:r>
              <a:rPr lang="en-US" dirty="0"/>
              <a:t>.</a:t>
            </a:r>
          </a:p>
          <a:p>
            <a:endParaRPr lang="en-US" dirty="0"/>
          </a:p>
          <a:p>
            <a:endParaRPr lang="en-US" dirty="0"/>
          </a:p>
          <a:p>
            <a:endParaRPr lang="en-US" dirty="0"/>
          </a:p>
          <a:p>
            <a:endParaRPr lang="en-IN" dirty="0"/>
          </a:p>
        </p:txBody>
      </p:sp>
    </p:spTree>
    <p:extLst>
      <p:ext uri="{BB962C8B-B14F-4D97-AF65-F5344CB8AC3E}">
        <p14:creationId xmlns:p14="http://schemas.microsoft.com/office/powerpoint/2010/main" val="60710175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FC1CD5-E884-5953-25AC-19B9CF5A5A65}"/>
              </a:ext>
            </a:extLst>
          </p:cNvPr>
          <p:cNvSpPr>
            <a:spLocks noGrp="1"/>
          </p:cNvSpPr>
          <p:nvPr>
            <p:ph type="title"/>
          </p:nvPr>
        </p:nvSpPr>
        <p:spPr>
          <a:xfrm>
            <a:off x="90054" y="105352"/>
            <a:ext cx="10515600" cy="1325563"/>
          </a:xfrm>
        </p:spPr>
        <p:txBody>
          <a:bodyPr/>
          <a:lstStyle/>
          <a:p>
            <a:r>
              <a:rPr lang="en-US" b="1" dirty="0"/>
              <a:t>Auto Suspend and Auto Resume Warehouses</a:t>
            </a:r>
            <a:br>
              <a:rPr lang="en-US" dirty="0"/>
            </a:br>
            <a:endParaRPr lang="en-IN" dirty="0"/>
          </a:p>
        </p:txBody>
      </p:sp>
      <p:sp>
        <p:nvSpPr>
          <p:cNvPr id="3" name="Content Placeholder 2">
            <a:extLst>
              <a:ext uri="{FF2B5EF4-FFF2-40B4-BE49-F238E27FC236}">
                <a16:creationId xmlns:a16="http://schemas.microsoft.com/office/drawing/2014/main" id="{EFCBA4A2-057D-D73C-D2D7-4A7F426829E4}"/>
              </a:ext>
            </a:extLst>
          </p:cNvPr>
          <p:cNvSpPr>
            <a:spLocks noGrp="1"/>
          </p:cNvSpPr>
          <p:nvPr>
            <p:ph idx="1"/>
          </p:nvPr>
        </p:nvSpPr>
        <p:spPr>
          <a:xfrm>
            <a:off x="90054" y="1036061"/>
            <a:ext cx="11765972" cy="3754148"/>
          </a:xfrm>
        </p:spPr>
        <p:txBody>
          <a:bodyPr>
            <a:normAutofit fontScale="62500" lnSpcReduction="20000"/>
          </a:bodyPr>
          <a:lstStyle/>
          <a:p>
            <a:r>
              <a:rPr lang="en-US" b="1" dirty="0">
                <a:solidFill>
                  <a:srgbClr val="FF0000"/>
                </a:solidFill>
              </a:rPr>
              <a:t>A warehouse can be set to automatically Suspend or Resume, based on activity</a:t>
            </a:r>
          </a:p>
          <a:p>
            <a:pPr marL="0" indent="0">
              <a:buNone/>
            </a:pPr>
            <a:r>
              <a:rPr lang="en-US" b="1" dirty="0"/>
              <a:t>Auto Suspend</a:t>
            </a:r>
            <a:endParaRPr lang="en-US" dirty="0"/>
          </a:p>
          <a:p>
            <a:r>
              <a:rPr lang="en-US" b="1" dirty="0">
                <a:solidFill>
                  <a:srgbClr val="FF0000"/>
                </a:solidFill>
              </a:rPr>
              <a:t>Auto Suspend is enabled by default while provisioning a warehouse.</a:t>
            </a:r>
          </a:p>
          <a:p>
            <a:r>
              <a:rPr lang="en-US" dirty="0"/>
              <a:t>Snowflake </a:t>
            </a:r>
            <a:r>
              <a:rPr lang="en-US" b="1" dirty="0">
                <a:highlight>
                  <a:srgbClr val="FFFF00"/>
                </a:highlight>
              </a:rPr>
              <a:t>automatically suspends the warehouse </a:t>
            </a:r>
            <a:r>
              <a:rPr lang="en-US" dirty="0"/>
              <a:t>if it is </a:t>
            </a:r>
            <a:r>
              <a:rPr lang="en-US" b="1" dirty="0">
                <a:solidFill>
                  <a:srgbClr val="FF0000"/>
                </a:solidFill>
              </a:rPr>
              <a:t>inactive for the specified period of time</a:t>
            </a:r>
            <a:r>
              <a:rPr lang="en-US" dirty="0"/>
              <a:t>.</a:t>
            </a:r>
          </a:p>
          <a:p>
            <a:r>
              <a:rPr lang="en-US" b="1" dirty="0">
                <a:solidFill>
                  <a:srgbClr val="FF0000"/>
                </a:solidFill>
              </a:rPr>
              <a:t>Auto Suspend ensures that you do not leave a warehouse running </a:t>
            </a:r>
            <a:r>
              <a:rPr lang="en-US" dirty="0"/>
              <a:t>(and consuming credits) when there are no incoming queries.</a:t>
            </a:r>
          </a:p>
          <a:p>
            <a:pPr marL="0" indent="0">
              <a:buNone/>
            </a:pPr>
            <a:r>
              <a:rPr lang="en-US" b="1" dirty="0"/>
              <a:t>Auto Resume</a:t>
            </a:r>
            <a:endParaRPr lang="en-US" dirty="0"/>
          </a:p>
          <a:p>
            <a:r>
              <a:rPr lang="en-US" b="1" dirty="0">
                <a:highlight>
                  <a:srgbClr val="FFFF00"/>
                </a:highlight>
              </a:rPr>
              <a:t>Auto Resume is enabled by default while provisioning a warehouse.</a:t>
            </a:r>
          </a:p>
          <a:p>
            <a:r>
              <a:rPr lang="en-US" dirty="0"/>
              <a:t>Snowflake </a:t>
            </a:r>
            <a:r>
              <a:rPr lang="en-US" b="1" dirty="0"/>
              <a:t>automatically resumes the warehouse when any statement that requires a warehouse is submitted </a:t>
            </a:r>
            <a:r>
              <a:rPr lang="en-US" dirty="0"/>
              <a:t>and the warehouse is the current warehouse for the session.</a:t>
            </a:r>
          </a:p>
          <a:p>
            <a:r>
              <a:rPr lang="en-US" dirty="0"/>
              <a:t>Auto Resume </a:t>
            </a:r>
            <a:r>
              <a:rPr lang="en-US" b="1" dirty="0">
                <a:solidFill>
                  <a:srgbClr val="FF0000"/>
                </a:solidFill>
              </a:rPr>
              <a:t>ensures that the warehouse starts up again as soon as it is needed.</a:t>
            </a:r>
          </a:p>
          <a:p>
            <a:pPr marL="0" indent="0">
              <a:buNone/>
            </a:pPr>
            <a:r>
              <a:rPr lang="en-US" b="1" dirty="0">
                <a:highlight>
                  <a:srgbClr val="FFFF00"/>
                </a:highlight>
              </a:rPr>
              <a:t>alter warehouse </a:t>
            </a:r>
            <a:r>
              <a:rPr lang="en-US" b="1" dirty="0" err="1">
                <a:highlight>
                  <a:srgbClr val="FFFF00"/>
                </a:highlight>
              </a:rPr>
              <a:t>my_wh</a:t>
            </a:r>
            <a:r>
              <a:rPr lang="en-US" b="1" dirty="0">
                <a:highlight>
                  <a:srgbClr val="FFFF00"/>
                </a:highlight>
              </a:rPr>
              <a:t> resume;       alter warehouse </a:t>
            </a:r>
            <a:r>
              <a:rPr lang="en-US" b="1" dirty="0" err="1">
                <a:highlight>
                  <a:srgbClr val="FFFF00"/>
                </a:highlight>
              </a:rPr>
              <a:t>my_wh</a:t>
            </a:r>
            <a:r>
              <a:rPr lang="en-US" b="1" dirty="0">
                <a:highlight>
                  <a:srgbClr val="FFFF00"/>
                </a:highlight>
              </a:rPr>
              <a:t> suspend; // manual</a:t>
            </a:r>
          </a:p>
          <a:p>
            <a:pPr marL="0" indent="0">
              <a:buNone/>
            </a:pPr>
            <a:endParaRPr lang="en-IN" dirty="0"/>
          </a:p>
        </p:txBody>
      </p:sp>
      <p:pic>
        <p:nvPicPr>
          <p:cNvPr id="5122" name="Picture 2">
            <a:extLst>
              <a:ext uri="{FF2B5EF4-FFF2-40B4-BE49-F238E27FC236}">
                <a16:creationId xmlns:a16="http://schemas.microsoft.com/office/drawing/2014/main" id="{6E9A8575-06DC-9CA5-21F0-64C41E3EC3F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5974" y="4894118"/>
            <a:ext cx="11416144" cy="16846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0765864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2E7331-27C8-AFC6-AFA9-43893F271B31}"/>
              </a:ext>
            </a:extLst>
          </p:cNvPr>
          <p:cNvSpPr>
            <a:spLocks noGrp="1"/>
          </p:cNvSpPr>
          <p:nvPr>
            <p:ph type="title"/>
          </p:nvPr>
        </p:nvSpPr>
        <p:spPr>
          <a:xfrm>
            <a:off x="4443845" y="18256"/>
            <a:ext cx="10515600" cy="844190"/>
          </a:xfrm>
        </p:spPr>
        <p:txBody>
          <a:bodyPr/>
          <a:lstStyle/>
          <a:p>
            <a:r>
              <a:rPr lang="en-IN" b="1" dirty="0">
                <a:highlight>
                  <a:srgbClr val="FFFF00"/>
                </a:highlight>
              </a:rPr>
              <a:t>Finally</a:t>
            </a:r>
          </a:p>
        </p:txBody>
      </p:sp>
      <p:sp>
        <p:nvSpPr>
          <p:cNvPr id="3" name="Content Placeholder 2">
            <a:extLst>
              <a:ext uri="{FF2B5EF4-FFF2-40B4-BE49-F238E27FC236}">
                <a16:creationId xmlns:a16="http://schemas.microsoft.com/office/drawing/2014/main" id="{C670027B-5FF7-6AFF-5C3B-CB0BAB901EB2}"/>
              </a:ext>
            </a:extLst>
          </p:cNvPr>
          <p:cNvSpPr>
            <a:spLocks noGrp="1"/>
          </p:cNvSpPr>
          <p:nvPr>
            <p:ph idx="1"/>
          </p:nvPr>
        </p:nvSpPr>
        <p:spPr>
          <a:xfrm>
            <a:off x="339436" y="1160606"/>
            <a:ext cx="11682845" cy="4351338"/>
          </a:xfrm>
        </p:spPr>
        <p:txBody>
          <a:bodyPr/>
          <a:lstStyle/>
          <a:p>
            <a:r>
              <a:rPr lang="en-US" b="1" dirty="0">
                <a:highlight>
                  <a:srgbClr val="FFFF00"/>
                </a:highlight>
              </a:rPr>
              <a:t>S</a:t>
            </a:r>
            <a:r>
              <a:rPr lang="en-US" b="1" dirty="0">
                <a:effectLst/>
                <a:highlight>
                  <a:srgbClr val="FFFF00"/>
                </a:highlight>
              </a:rPr>
              <a:t>eparation of storage and compute </a:t>
            </a:r>
            <a:r>
              <a:rPr lang="en-US" dirty="0">
                <a:effectLst/>
              </a:rPr>
              <a:t>allows users </a:t>
            </a:r>
            <a:r>
              <a:rPr lang="en-US" b="1" dirty="0">
                <a:solidFill>
                  <a:srgbClr val="FF0000"/>
                </a:solidFill>
                <a:effectLst/>
              </a:rPr>
              <a:t>to scale each independently</a:t>
            </a:r>
            <a:r>
              <a:rPr lang="en-US" dirty="0">
                <a:effectLst/>
              </a:rPr>
              <a:t>—e.g., </a:t>
            </a:r>
            <a:r>
              <a:rPr lang="en-US" b="1" i="1" dirty="0">
                <a:effectLst/>
              </a:rPr>
              <a:t>add more compute for peak analytics without resizing storage</a:t>
            </a:r>
            <a:r>
              <a:rPr lang="en-US" dirty="0">
                <a:effectLst/>
              </a:rPr>
              <a:t>—</a:t>
            </a:r>
            <a:r>
              <a:rPr lang="en-US" b="1" u="sng" dirty="0">
                <a:effectLst/>
              </a:rPr>
              <a:t>reducing complexity </a:t>
            </a:r>
            <a:r>
              <a:rPr lang="en-US" dirty="0">
                <a:effectLst/>
              </a:rPr>
              <a:t>in </a:t>
            </a:r>
            <a:r>
              <a:rPr lang="en-US" dirty="0">
                <a:effectLst/>
                <a:highlight>
                  <a:srgbClr val="FFFF00"/>
                </a:highlight>
              </a:rPr>
              <a:t>data pipelines</a:t>
            </a:r>
            <a:r>
              <a:rPr lang="en-US" dirty="0">
                <a:effectLst/>
              </a:rPr>
              <a:t>. </a:t>
            </a:r>
          </a:p>
          <a:p>
            <a:r>
              <a:rPr lang="en-US" dirty="0">
                <a:effectLst/>
              </a:rPr>
              <a:t>The </a:t>
            </a:r>
            <a:r>
              <a:rPr lang="en-US" b="1" i="1" dirty="0">
                <a:effectLst/>
              </a:rPr>
              <a:t>architecture is multi-tenant yet isolated</a:t>
            </a:r>
            <a:r>
              <a:rPr lang="en-US" dirty="0">
                <a:effectLst/>
              </a:rPr>
              <a:t>, with </a:t>
            </a:r>
            <a:r>
              <a:rPr lang="en-US" b="1" dirty="0">
                <a:solidFill>
                  <a:srgbClr val="FF0000"/>
                </a:solidFill>
                <a:effectLst/>
              </a:rPr>
              <a:t>data distributed across cloud availability zones </a:t>
            </a:r>
            <a:r>
              <a:rPr lang="en-US" dirty="0">
                <a:effectLst/>
              </a:rPr>
              <a:t>for </a:t>
            </a:r>
            <a:r>
              <a:rPr lang="en-US" b="1" dirty="0">
                <a:effectLst/>
                <a:highlight>
                  <a:srgbClr val="FFFF00"/>
                </a:highlight>
              </a:rPr>
              <a:t>high availability and fault tolerance</a:t>
            </a:r>
          </a:p>
          <a:p>
            <a:endParaRPr lang="en-IN" dirty="0"/>
          </a:p>
        </p:txBody>
      </p:sp>
    </p:spTree>
    <p:extLst>
      <p:ext uri="{BB962C8B-B14F-4D97-AF65-F5344CB8AC3E}">
        <p14:creationId xmlns:p14="http://schemas.microsoft.com/office/powerpoint/2010/main" val="114050050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30</TotalTime>
  <Words>1690</Words>
  <Application>Microsoft Office PowerPoint</Application>
  <PresentationFormat>Widescreen</PresentationFormat>
  <Paragraphs>161</Paragraphs>
  <Slides>23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23</vt:i4>
      </vt:variant>
    </vt:vector>
  </HeadingPairs>
  <TitlesOfParts>
    <vt:vector size="27" baseType="lpstr">
      <vt:lpstr>Arial</vt:lpstr>
      <vt:lpstr>Calibri</vt:lpstr>
      <vt:lpstr>Calibri Light</vt:lpstr>
      <vt:lpstr>Office Theme</vt:lpstr>
      <vt:lpstr>Snowflake </vt:lpstr>
      <vt:lpstr>Intro</vt:lpstr>
      <vt:lpstr>Key features </vt:lpstr>
      <vt:lpstr>Snowflake Setup</vt:lpstr>
      <vt:lpstr>PowerPoint Presentation</vt:lpstr>
      <vt:lpstr>Snowflake Architecture </vt:lpstr>
      <vt:lpstr>PowerPoint Presentation</vt:lpstr>
      <vt:lpstr>PowerPoint Presentation</vt:lpstr>
      <vt:lpstr>Storage layer</vt:lpstr>
      <vt:lpstr>Query Processing Layer </vt:lpstr>
      <vt:lpstr>Cloud Services Layer </vt:lpstr>
      <vt:lpstr>Cloud Services Layer </vt:lpstr>
      <vt:lpstr>Virtual Warehouses</vt:lpstr>
      <vt:lpstr>What is a Snowflake Virtual Warehouse? </vt:lpstr>
      <vt:lpstr>Steps to create a Snowflake Virtual Warehouse </vt:lpstr>
      <vt:lpstr>PowerPoint Presentation</vt:lpstr>
      <vt:lpstr>PowerPoint Presentation</vt:lpstr>
      <vt:lpstr>Virtual Warehouse Size and Credit Usage/Billing </vt:lpstr>
      <vt:lpstr>Multi-cluster Warehouses </vt:lpstr>
      <vt:lpstr>Warehouse sizing modes</vt:lpstr>
      <vt:lpstr>Scaling Policy </vt:lpstr>
      <vt:lpstr>Auto Suspend and Auto Resume Warehouses </vt:lpstr>
      <vt:lpstr>Finally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Data Engineering</dc:creator>
  <cp:lastModifiedBy>Data Engineering</cp:lastModifiedBy>
  <cp:revision>11</cp:revision>
  <dcterms:created xsi:type="dcterms:W3CDTF">2025-11-13T21:52:35Z</dcterms:created>
  <dcterms:modified xsi:type="dcterms:W3CDTF">2025-11-13T22:23:33Z</dcterms:modified>
</cp:coreProperties>
</file>